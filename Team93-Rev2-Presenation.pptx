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3" r:id="rId10"/>
    <p:sldId id="292" r:id="rId11"/>
    <p:sldId id="293" r:id="rId12"/>
    <p:sldId id="264" r:id="rId13"/>
    <p:sldId id="266" r:id="rId14"/>
    <p:sldId id="267" r:id="rId15"/>
    <p:sldId id="270" r:id="rId16"/>
    <p:sldId id="271" r:id="rId17"/>
    <p:sldId id="273" r:id="rId18"/>
    <p:sldId id="274" r:id="rId19"/>
    <p:sldId id="275" r:id="rId20"/>
    <p:sldId id="276" r:id="rId21"/>
    <p:sldId id="277" r:id="rId22"/>
    <p:sldId id="294" r:id="rId23"/>
    <p:sldId id="280" r:id="rId24"/>
    <p:sldId id="281" r:id="rId25"/>
    <p:sldId id="282" r:id="rId26"/>
    <p:sldId id="284" r:id="rId27"/>
    <p:sldId id="295" r:id="rId28"/>
    <p:sldId id="286" r:id="rId29"/>
    <p:sldId id="287" r:id="rId30"/>
    <p:sldId id="288" r:id="rId31"/>
    <p:sldId id="289" r:id="rId32"/>
    <p:sldId id="291" r:id="rId33"/>
  </p:sldIdLst>
  <p:sldSz cx="9144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28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EB1AD8-12F6-49BD-A89C-1D1AFC00BDA6}" styleName="Table_0">
    <a:wholeTbl>
      <a:tcTxStyle>
        <a:font>
          <a:latin typeface="Times New Roman"/>
          <a:ea typeface="Times New Roman"/>
          <a:cs typeface="Times New Roman"/>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Times New Roman"/>
          <a:ea typeface="Times New Roman"/>
          <a:cs typeface="Times New Roman"/>
        </a:font>
        <a:srgbClr val="FFFFFF"/>
      </a:tcTxStyle>
      <a:tcStyle>
        <a:tcBdr/>
        <a:fill>
          <a:solidFill>
            <a:srgbClr val="4F81BD"/>
          </a:solidFill>
        </a:fill>
      </a:tcStyle>
    </a:lastCol>
    <a:firstCol>
      <a:tcTxStyle b="on">
        <a:font>
          <a:latin typeface="Times New Roman"/>
          <a:ea typeface="Times New Roman"/>
          <a:cs typeface="Times New Roman"/>
        </a:font>
        <a:srgbClr val="FFFFFF"/>
      </a:tcTxStyle>
      <a:tcStyle>
        <a:tcBdr/>
        <a:fill>
          <a:solidFill>
            <a:srgbClr val="4F81BD"/>
          </a:solidFill>
        </a:fill>
      </a:tcStyle>
    </a:firstCol>
    <a:lastRow>
      <a:tcTxStyle b="on">
        <a:font>
          <a:latin typeface="Times New Roman"/>
          <a:ea typeface="Times New Roman"/>
          <a:cs typeface="Times New Roman"/>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Style>
        <a:tcBdr/>
      </a:tcStyle>
    </a:seCell>
    <a:swCell>
      <a:tcStyle>
        <a:tcBdr/>
      </a:tcStyle>
    </a:swCell>
    <a:firstRow>
      <a:tcTxStyle b="on">
        <a:font>
          <a:latin typeface="Times New Roman"/>
          <a:ea typeface="Times New Roman"/>
          <a:cs typeface="Times New Roman"/>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85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1" name="Google Shape;91;p1:notes"/>
          <p:cNvSpPr/>
          <p:nvPr>
            <p:ph type="sldImg" idx="2"/>
          </p:nvPr>
        </p:nvSpPr>
        <p:spPr>
          <a:xfrm>
            <a:off x="1168400" y="708025"/>
            <a:ext cx="4535488" cy="340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1:notes"/>
          <p:cNvSpPr txBox="1"/>
          <p:nvPr>
            <p:ph type="body" idx="1"/>
          </p:nvPr>
        </p:nvSpPr>
        <p:spPr>
          <a:xfrm>
            <a:off x="915294" y="4343703"/>
            <a:ext cx="5027414" cy="4098773"/>
          </a:xfrm>
          <a:prstGeom prst="rect">
            <a:avLst/>
          </a:prstGeom>
          <a:noFill/>
          <a:ln>
            <a:noFill/>
          </a:ln>
        </p:spPr>
        <p:txBody>
          <a:bodyPr spcFirstLastPara="1" wrap="square" lIns="89675" tIns="44825" rIns="89675" bIns="44825" anchor="t"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0" name="Google Shape;100;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26a1f637bf1_0_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6" name="Google Shape;106;g26a1f637bf1_0_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26a1f637bf1_0_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2" name="Google Shape;112;g26a1f637bf1_0_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8" name="Google Shape;118;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g308ac8a805b_0_1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4" name="Google Shape;124;g308ac8a805b_0_1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g26a1f637bf1_0_32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 name="Google Shape;136;g26a1f637bf1_0_3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g26a1f637bf1_0_32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 name="Google Shape;136;g26a1f637bf1_0_3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g26a1f637bf1_0_32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6" name="Google Shape;136;g26a1f637bf1_0_3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g26a1f637bf1_0_33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2" name="Google Shape;142;g26a1f637bf1_0_33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g26a1f637bf1_0_35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4" name="Google Shape;154;g26a1f637bf1_0_35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g26a1f637bf1_0_36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1" name="Google Shape;161;g26a1f637bf1_0_36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g2f9bec2b392_0_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2" name="Google Shape;182;g2f9bec2b392_0_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g2f9bec2b392_0_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8" name="Google Shape;188;g2f9bec2b392_0_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g28e048d8f5c_0_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2" name="Google Shape;202;g28e048d8f5c_0_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206"/>
        <p:cNvGrpSpPr/>
        <p:nvPr/>
      </p:nvGrpSpPr>
      <p:grpSpPr>
        <a:xfrm>
          <a:off x="0" y="0"/>
          <a:ext cx="0" cy="0"/>
          <a:chOff x="0" y="0"/>
          <a:chExt cx="0" cy="0"/>
        </a:xfrm>
      </p:grpSpPr>
      <p:sp>
        <p:nvSpPr>
          <p:cNvPr id="207" name="Google Shape;207;g26a1f637bf1_0_34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8" name="Google Shape;208;g26a1f637bf1_0_34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212"/>
        <p:cNvGrpSpPr/>
        <p:nvPr/>
      </p:nvGrpSpPr>
      <p:grpSpPr>
        <a:xfrm>
          <a:off x="0" y="0"/>
          <a:ext cx="0" cy="0"/>
          <a:chOff x="0" y="0"/>
          <a:chExt cx="0" cy="0"/>
        </a:xfrm>
      </p:grpSpPr>
      <p:sp>
        <p:nvSpPr>
          <p:cNvPr id="213" name="Google Shape;213;g26a1f637bf1_0_9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4" name="Google Shape;214;g26a1f637bf1_0_9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218"/>
        <p:cNvGrpSpPr/>
        <p:nvPr/>
      </p:nvGrpSpPr>
      <p:grpSpPr>
        <a:xfrm>
          <a:off x="0" y="0"/>
          <a:ext cx="0" cy="0"/>
          <a:chOff x="0" y="0"/>
          <a:chExt cx="0" cy="0"/>
        </a:xfrm>
      </p:grpSpPr>
      <p:sp>
        <p:nvSpPr>
          <p:cNvPr id="219" name="Google Shape;219;g28e048d8f5c_0_1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0" name="Google Shape;220;g28e048d8f5c_0_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4" name="Shape 224"/>
        <p:cNvGrpSpPr/>
        <p:nvPr/>
      </p:nvGrpSpPr>
      <p:grpSpPr>
        <a:xfrm>
          <a:off x="0" y="0"/>
          <a:ext cx="0" cy="0"/>
          <a:chOff x="0" y="0"/>
          <a:chExt cx="0" cy="0"/>
        </a:xfrm>
      </p:grpSpPr>
      <p:sp>
        <p:nvSpPr>
          <p:cNvPr id="225" name="Google Shape;225;g26a1f637bf1_0_33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6" name="Google Shape;226;g26a1f637bf1_0_33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4" name="Shape 224"/>
        <p:cNvGrpSpPr/>
        <p:nvPr/>
      </p:nvGrpSpPr>
      <p:grpSpPr>
        <a:xfrm>
          <a:off x="0" y="0"/>
          <a:ext cx="0" cy="0"/>
          <a:chOff x="0" y="0"/>
          <a:chExt cx="0" cy="0"/>
        </a:xfrm>
      </p:grpSpPr>
      <p:sp>
        <p:nvSpPr>
          <p:cNvPr id="225" name="Google Shape;225;g26a1f637bf1_0_33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6" name="Google Shape;226;g26a1f637bf1_0_33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45" name="Google Shape;245;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250"/>
        <p:cNvGrpSpPr/>
        <p:nvPr/>
      </p:nvGrpSpPr>
      <p:grpSpPr>
        <a:xfrm>
          <a:off x="0" y="0"/>
          <a:ext cx="0" cy="0"/>
          <a:chOff x="0" y="0"/>
          <a:chExt cx="0" cy="0"/>
        </a:xfrm>
      </p:grpSpPr>
      <p:sp>
        <p:nvSpPr>
          <p:cNvPr id="251" name="Google Shape;251;g26a1f637bf1_0_38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52" name="Google Shape;252;g26a1f637bf1_0_38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g26a1f637bf1_0_40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0" name="Google Shape;260;g26a1f637bf1_0_40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 name="Shape 274"/>
        <p:cNvGrpSpPr/>
        <p:nvPr/>
      </p:nvGrpSpPr>
      <p:grpSpPr>
        <a:xfrm>
          <a:off x="0" y="0"/>
          <a:ext cx="0" cy="0"/>
          <a:chOff x="0" y="0"/>
          <a:chExt cx="0" cy="0"/>
        </a:xfrm>
      </p:grpSpPr>
      <p:sp>
        <p:nvSpPr>
          <p:cNvPr id="275" name="Google Shape;275;g26a1f637bf1_0_41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6" name="Google Shape;276;g26a1f637bf1_0_4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 name="Shape 274"/>
        <p:cNvGrpSpPr/>
        <p:nvPr/>
      </p:nvGrpSpPr>
      <p:grpSpPr>
        <a:xfrm>
          <a:off x="0" y="0"/>
          <a:ext cx="0" cy="0"/>
          <a:chOff x="0" y="0"/>
          <a:chExt cx="0" cy="0"/>
        </a:xfrm>
      </p:grpSpPr>
      <p:sp>
        <p:nvSpPr>
          <p:cNvPr id="275" name="Google Shape;275;g26a1f637bf1_0_41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6" name="Google Shape;276;g26a1f637bf1_0_4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g28e048d8f5c_0_2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0" name="Google Shape;290;g28e048d8f5c_0_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5" name="Shape 295"/>
        <p:cNvGrpSpPr/>
        <p:nvPr/>
      </p:nvGrpSpPr>
      <p:grpSpPr>
        <a:xfrm>
          <a:off x="0" y="0"/>
          <a:ext cx="0" cy="0"/>
          <a:chOff x="0" y="0"/>
          <a:chExt cx="0" cy="0"/>
        </a:xfrm>
      </p:grpSpPr>
      <p:sp>
        <p:nvSpPr>
          <p:cNvPr id="296" name="Google Shape;296;g26a1f637bf1_0_42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7" name="Google Shape;297;g26a1f637bf1_0_4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1" name="Shape 301"/>
        <p:cNvGrpSpPr/>
        <p:nvPr/>
      </p:nvGrpSpPr>
      <p:grpSpPr>
        <a:xfrm>
          <a:off x="0" y="0"/>
          <a:ext cx="0" cy="0"/>
          <a:chOff x="0" y="0"/>
          <a:chExt cx="0" cy="0"/>
        </a:xfrm>
      </p:grpSpPr>
      <p:sp>
        <p:nvSpPr>
          <p:cNvPr id="302" name="Google Shape;302;p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3" name="Google Shape;303;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7" name="Shape 307"/>
        <p:cNvGrpSpPr/>
        <p:nvPr/>
      </p:nvGrpSpPr>
      <p:grpSpPr>
        <a:xfrm>
          <a:off x="0" y="0"/>
          <a:ext cx="0" cy="0"/>
          <a:chOff x="0" y="0"/>
          <a:chExt cx="0" cy="0"/>
        </a:xfrm>
      </p:grpSpPr>
      <p:sp>
        <p:nvSpPr>
          <p:cNvPr id="308" name="Google Shape;308;p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9" name="Google Shape;309;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g26a1f637bf1_0_42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1" name="Google Shape;321;g26a1f637bf1_0_42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1_Title Slide">
  <p:cSld name="TITLE">
    <p:spTree>
      <p:nvGrpSpPr>
        <p:cNvPr id="15" name="Shape 15"/>
        <p:cNvGrpSpPr/>
        <p:nvPr/>
      </p:nvGrpSpPr>
      <p:grpSpPr>
        <a:xfrm>
          <a:off x="0" y="0"/>
          <a:ext cx="0" cy="0"/>
          <a:chOff x="0" y="0"/>
          <a:chExt cx="0" cy="0"/>
        </a:xfrm>
      </p:grpSpPr>
      <p:sp>
        <p:nvSpPr>
          <p:cNvPr id="16" name="Google Shape;16;p2"/>
          <p:cNvSpPr txBox="1"/>
          <p:nvPr/>
        </p:nvSpPr>
        <p:spPr>
          <a:xfrm>
            <a:off x="1371600" y="6687979"/>
            <a:ext cx="598487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000"/>
              <a:buFont typeface="Calibri" panose="020F0502020204030204"/>
              <a:buNone/>
            </a:pPr>
            <a:r>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t>SEC-  DEPARTMENT OF AIDS –  </a:t>
            </a:r>
            <a:r>
              <a:rPr lang="en-US" sz="1000">
                <a:solidFill>
                  <a:schemeClr val="dk1"/>
                </a:solidFill>
                <a:latin typeface="Calibri" panose="020F0502020204030204"/>
                <a:ea typeface="Calibri" panose="020F0502020204030204"/>
                <a:cs typeface="Calibri" panose="020F0502020204030204"/>
                <a:sym typeface="Calibri" panose="020F0502020204030204"/>
              </a:rPr>
              <a:t>4</a:t>
            </a:r>
            <a:r>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US" sz="1000">
                <a:solidFill>
                  <a:schemeClr val="dk1"/>
                </a:solidFill>
                <a:latin typeface="Calibri" panose="020F0502020204030204"/>
                <a:ea typeface="Calibri" panose="020F0502020204030204"/>
                <a:cs typeface="Calibri" panose="020F0502020204030204"/>
                <a:sym typeface="Calibri" panose="020F0502020204030204"/>
              </a:rPr>
              <a:t>1</a:t>
            </a:r>
            <a:r>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t> –</a:t>
            </a:r>
            <a:r>
              <a:rPr lang="en-US" sz="1000">
                <a:solidFill>
                  <a:schemeClr val="dk1"/>
                </a:solidFill>
                <a:latin typeface="Calibri" panose="020F0502020204030204"/>
                <a:ea typeface="Calibri" panose="020F0502020204030204"/>
                <a:cs typeface="Calibri" panose="020F0502020204030204"/>
                <a:sym typeface="Calibri" panose="020F0502020204030204"/>
              </a:rPr>
              <a:t>PROJECTWORK1</a:t>
            </a:r>
            <a:r>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t>– slide# -</a:t>
            </a:r>
            <a:fld id="{00000000-1234-1234-1234-123412341234}" type="slidenum">
              <a:rPr lang="en-US" sz="10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0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 name="Google Shape;17;p2"/>
          <p:cNvSpPr txBox="1"/>
          <p:nvPr/>
        </p:nvSpPr>
        <p:spPr>
          <a:xfrm>
            <a:off x="457200" y="274638"/>
            <a:ext cx="8229600" cy="584200"/>
          </a:xfrm>
          <a:prstGeom prst="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Calibri" panose="020F0502020204030204"/>
              <a:buNone/>
            </a:pP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 name="Google Shape;18;p2"/>
          <p:cNvSpPr txBox="1"/>
          <p:nvPr/>
        </p:nvSpPr>
        <p:spPr>
          <a:xfrm>
            <a:off x="457200" y="1027113"/>
            <a:ext cx="8229600" cy="5402262"/>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dk1"/>
              </a:buClr>
              <a:buSzPts val="2800"/>
              <a:buFont typeface="Arial" panose="020B0604020202020204"/>
              <a:buNone/>
            </a:pP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chemeClr val="dk1"/>
              </a:buClr>
              <a:buSzPts val="3200"/>
              <a:buFont typeface="Arial" panose="020B0604020202020204"/>
              <a:buNone/>
            </a:pPr>
            <a:endParaRPr sz="3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9" name="Google Shape;19;p2" descr="C:\Users\ELCOT\Desktop\Saveetha Logo.png"/>
          <p:cNvPicPr preferRelativeResize="0"/>
          <p:nvPr/>
        </p:nvPicPr>
        <p:blipFill rotWithShape="1">
          <a:blip r:embed="rId2"/>
          <a:srcRect r="26621" b="28150"/>
          <a:stretch>
            <a:fillRect/>
          </a:stretch>
        </p:blipFill>
        <p:spPr>
          <a:xfrm>
            <a:off x="6588225" y="2899"/>
            <a:ext cx="2570075" cy="271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20" name="Shape 20"/>
        <p:cNvGrpSpPr/>
        <p:nvPr/>
      </p:nvGrpSpPr>
      <p:grpSpPr>
        <a:xfrm>
          <a:off x="0" y="0"/>
          <a:ext cx="0" cy="0"/>
          <a:chOff x="0" y="0"/>
          <a:chExt cx="0" cy="0"/>
        </a:xfrm>
      </p:grpSpPr>
      <p:sp>
        <p:nvSpPr>
          <p:cNvPr id="21" name="Google Shape;21;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3" name="Google Shape;23;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9" name="Google Shape;29;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2" name="Shape 32"/>
        <p:cNvGrpSpPr/>
        <p:nvPr/>
      </p:nvGrpSpPr>
      <p:grpSpPr>
        <a:xfrm>
          <a:off x="0" y="0"/>
          <a:ext cx="0" cy="0"/>
          <a:chOff x="0" y="0"/>
          <a:chExt cx="0" cy="0"/>
        </a:xfrm>
      </p:grpSpPr>
      <p:sp>
        <p:nvSpPr>
          <p:cNvPr id="33" name="Google Shape;33;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5" name="Google Shape;35;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8" name="Shape 38"/>
        <p:cNvGrpSpPr/>
        <p:nvPr/>
      </p:nvGrpSpPr>
      <p:grpSpPr>
        <a:xfrm>
          <a:off x="0" y="0"/>
          <a:ext cx="0" cy="0"/>
          <a:chOff x="0" y="0"/>
          <a:chExt cx="0" cy="0"/>
        </a:xfrm>
      </p:grpSpPr>
      <p:sp>
        <p:nvSpPr>
          <p:cNvPr id="39" name="Google Shape;39;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41" name="Google Shape;41;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42" name="Google Shape;42;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8" name="Google Shape;48;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9" name="Google Shape;49;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50" name="Google Shape;50;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51" name="Google Shape;51;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4" name="Shape 54"/>
        <p:cNvGrpSpPr/>
        <p:nvPr/>
      </p:nvGrpSpPr>
      <p:grpSpPr>
        <a:xfrm>
          <a:off x="0" y="0"/>
          <a:ext cx="0" cy="0"/>
          <a:chOff x="0" y="0"/>
          <a:chExt cx="0" cy="0"/>
        </a:xfrm>
      </p:grpSpPr>
      <p:sp>
        <p:nvSpPr>
          <p:cNvPr id="55" name="Google Shape;55;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9" name="Shape 59"/>
        <p:cNvGrpSpPr/>
        <p:nvPr/>
      </p:nvGrpSpPr>
      <p:grpSpPr>
        <a:xfrm>
          <a:off x="0" y="0"/>
          <a:ext cx="0" cy="0"/>
          <a:chOff x="0" y="0"/>
          <a:chExt cx="0" cy="0"/>
        </a:xfrm>
      </p:grpSpPr>
      <p:sp>
        <p:nvSpPr>
          <p:cNvPr id="60" name="Google Shape;60;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63" name="Shape 63"/>
        <p:cNvGrpSpPr/>
        <p:nvPr/>
      </p:nvGrpSpPr>
      <p:grpSpPr>
        <a:xfrm>
          <a:off x="0" y="0"/>
          <a:ext cx="0" cy="0"/>
          <a:chOff x="0" y="0"/>
          <a:chExt cx="0" cy="0"/>
        </a:xfrm>
      </p:grpSpPr>
      <p:sp>
        <p:nvSpPr>
          <p:cNvPr id="64" name="Google Shape;64;p10"/>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0"/>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66" name="Google Shape;66;p10"/>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7" name="Google Shape;67;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70" name="Shape 70"/>
        <p:cNvGrpSpPr/>
        <p:nvPr/>
      </p:nvGrpSpPr>
      <p:grpSpPr>
        <a:xfrm>
          <a:off x="0" y="0"/>
          <a:ext cx="0" cy="0"/>
          <a:chOff x="0" y="0"/>
          <a:chExt cx="0" cy="0"/>
        </a:xfrm>
      </p:grpSpPr>
      <p:sp>
        <p:nvSpPr>
          <p:cNvPr id="71" name="Google Shape;71;p11"/>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1"/>
          <p:cNvSpPr/>
          <p:nvPr>
            <p:ph type="pic" idx="2"/>
          </p:nvPr>
        </p:nvSpPr>
        <p:spPr>
          <a:xfrm>
            <a:off x="1792288" y="612775"/>
            <a:ext cx="5486400" cy="4114800"/>
          </a:xfrm>
          <a:prstGeom prst="rect">
            <a:avLst/>
          </a:prstGeom>
          <a:noFill/>
          <a:ln>
            <a:noFill/>
          </a:ln>
        </p:spPr>
      </p:sp>
      <p:sp>
        <p:nvSpPr>
          <p:cNvPr id="73" name="Google Shape;73;p11"/>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74" name="Google Shape;74;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7" name="Shape 77"/>
        <p:cNvGrpSpPr/>
        <p:nvPr/>
      </p:nvGrpSpPr>
      <p:grpSpPr>
        <a:xfrm>
          <a:off x="0" y="0"/>
          <a:ext cx="0" cy="0"/>
          <a:chOff x="0" y="0"/>
          <a:chExt cx="0" cy="0"/>
        </a:xfrm>
      </p:grpSpPr>
      <p:sp>
        <p:nvSpPr>
          <p:cNvPr id="78" name="Google Shape;78;p12"/>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2"/>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0" name="Google Shape;80;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83" name="Shape 83"/>
        <p:cNvGrpSpPr/>
        <p:nvPr/>
      </p:nvGrpSpPr>
      <p:grpSpPr>
        <a:xfrm>
          <a:off x="0" y="0"/>
          <a:ext cx="0" cy="0"/>
          <a:chOff x="0" y="0"/>
          <a:chExt cx="0" cy="0"/>
        </a:xfrm>
      </p:grpSpPr>
      <p:sp>
        <p:nvSpPr>
          <p:cNvPr id="84" name="Google Shape;84;p13"/>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3"/>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86" name="Google Shape;86;p1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hyperlink" Target="m" TargetMode="Externa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14"/>
          <p:cNvSpPr txBox="1"/>
          <p:nvPr/>
        </p:nvSpPr>
        <p:spPr>
          <a:xfrm>
            <a:off x="457200" y="274638"/>
            <a:ext cx="8229600" cy="639762"/>
          </a:xfrm>
          <a:prstGeom prst="rect">
            <a:avLst/>
          </a:prstGeom>
          <a:noFill/>
          <a:ln>
            <a:noFill/>
          </a:ln>
        </p:spPr>
        <p:txBody>
          <a:bodyPr spcFirstLastPara="1" wrap="square" lIns="91425" tIns="45700" rIns="91425" bIns="45700" anchor="ctr" anchorCtr="0">
            <a:normAutofit lnSpcReduction="20000"/>
          </a:bodyPr>
          <a:lstStyle/>
          <a:p>
            <a:pPr marL="0" marR="0" lvl="0" indent="0" algn="ctr" rtl="0">
              <a:spcBef>
                <a:spcPts val="0"/>
              </a:spcBef>
              <a:spcAft>
                <a:spcPts val="0"/>
              </a:spcAft>
              <a:buNone/>
            </a:pPr>
            <a:r>
              <a:rPr lang="en-US" sz="4400">
                <a:solidFill>
                  <a:schemeClr val="dk1"/>
                </a:solidFill>
                <a:latin typeface="Calibri" panose="020F0502020204030204"/>
                <a:ea typeface="Calibri" panose="020F0502020204030204"/>
                <a:cs typeface="Calibri" panose="020F0502020204030204"/>
                <a:sym typeface="Calibri" panose="020F0502020204030204"/>
              </a:rPr>
              <a:t>ProjectWork1</a:t>
            </a:r>
            <a:r>
              <a:rPr lang="en-US" sz="4400" b="0" i="0" u="none" strike="noStrike" cap="none">
                <a:solidFill>
                  <a:schemeClr val="dk1"/>
                </a:solidFill>
                <a:latin typeface="Calibri" panose="020F0502020204030204"/>
                <a:ea typeface="Calibri" panose="020F0502020204030204"/>
                <a:cs typeface="Calibri" panose="020F0502020204030204"/>
                <a:sym typeface="Calibri" panose="020F0502020204030204"/>
              </a:rPr>
              <a:t>(19AI70</a:t>
            </a:r>
            <a:r>
              <a:rPr lang="en-US" sz="4400">
                <a:solidFill>
                  <a:schemeClr val="dk1"/>
                </a:solidFill>
                <a:latin typeface="Calibri" panose="020F0502020204030204"/>
                <a:ea typeface="Calibri" panose="020F0502020204030204"/>
                <a:cs typeface="Calibri" panose="020F0502020204030204"/>
                <a:sym typeface="Calibri" panose="020F0502020204030204"/>
              </a:rPr>
              <a:t>2</a:t>
            </a:r>
            <a:r>
              <a:rPr lang="en-US" sz="4400" b="0" i="0" u="none" strike="noStrike" cap="none">
                <a:solidFill>
                  <a:schemeClr val="dk1"/>
                </a:solidFill>
                <a:latin typeface="Calibri" panose="020F0502020204030204"/>
                <a:ea typeface="Calibri" panose="020F0502020204030204"/>
                <a:cs typeface="Calibri" panose="020F0502020204030204"/>
                <a:sym typeface="Calibri" panose="020F0502020204030204"/>
              </a:rPr>
              <a:t>) – </a:t>
            </a:r>
            <a:r>
              <a:rPr lang="en-US" sz="4400">
                <a:solidFill>
                  <a:schemeClr val="dk1"/>
                </a:solidFill>
                <a:latin typeface="Calibri" panose="020F0502020204030204"/>
                <a:ea typeface="Calibri" panose="020F0502020204030204"/>
                <a:cs typeface="Calibri" panose="020F0502020204030204"/>
                <a:sym typeface="Calibri" panose="020F0502020204030204"/>
              </a:rPr>
              <a:t>Review2</a:t>
            </a:r>
            <a:endParaRPr sz="44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5" name="Google Shape;95;p14"/>
          <p:cNvSpPr txBox="1"/>
          <p:nvPr/>
        </p:nvSpPr>
        <p:spPr>
          <a:xfrm>
            <a:off x="304800" y="979805"/>
            <a:ext cx="8610600" cy="4495800"/>
          </a:xfrm>
          <a:prstGeom prst="rect">
            <a:avLst/>
          </a:prstGeom>
          <a:noFill/>
          <a:ln>
            <a:noFill/>
          </a:ln>
        </p:spPr>
        <p:txBody>
          <a:bodyPr spcFirstLastPara="1" wrap="square" lIns="91425" tIns="45700" rIns="91425" bIns="45700" anchor="t" anchorCtr="0">
            <a:normAutofit fontScale="90000" lnSpcReduction="20000"/>
          </a:bodyPr>
          <a:lstStyle/>
          <a:p>
            <a:pPr marL="0" marR="0" lvl="0" indent="0" algn="ctr" rtl="0">
              <a:spcBef>
                <a:spcPts val="0"/>
              </a:spcBef>
              <a:spcAft>
                <a:spcPts val="0"/>
              </a:spcAft>
              <a:buNone/>
            </a:pPr>
            <a:r>
              <a:rPr lang="en-US" altLang="en-US" sz="2890" b="1">
                <a:solidFill>
                  <a:schemeClr val="tx1"/>
                </a:solidFill>
                <a:latin typeface="Calibri" panose="020F0502020204030204"/>
                <a:ea typeface="Calibri" panose="020F0502020204030204"/>
                <a:cs typeface="Calibri" panose="020F0502020204030204"/>
                <a:sym typeface="Calibri" panose="020F0502020204030204"/>
              </a:rPr>
              <a:t>FoodLoop: AI-Powered Hyperlocal Application for Optimized Food Redistribution and Community Hunger Mitigation</a:t>
            </a:r>
            <a:br>
              <a:rPr lang="en-US" sz="2890">
                <a:solidFill>
                  <a:srgbClr val="538CD5"/>
                </a:solidFill>
                <a:latin typeface="Calibri" panose="020F0502020204030204"/>
                <a:ea typeface="Calibri" panose="020F0502020204030204"/>
                <a:cs typeface="Calibri" panose="020F0502020204030204"/>
                <a:sym typeface="Calibri" panose="020F0502020204030204"/>
              </a:rPr>
            </a:br>
            <a:endParaRPr sz="28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800" b="1">
                <a:solidFill>
                  <a:schemeClr val="dk1"/>
                </a:solidFill>
                <a:latin typeface="Calibri" panose="020F0502020204030204"/>
                <a:ea typeface="Calibri" panose="020F0502020204030204"/>
                <a:cs typeface="Calibri" panose="020F0502020204030204"/>
                <a:sym typeface="Calibri" panose="020F0502020204030204"/>
              </a:rPr>
              <a:t>Submitted by:</a:t>
            </a: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800" b="1">
                <a:solidFill>
                  <a:schemeClr val="dk1"/>
                </a:solidFill>
                <a:latin typeface="Calibri" panose="020F0502020204030204"/>
                <a:ea typeface="Calibri" panose="020F0502020204030204"/>
                <a:cs typeface="Calibri" panose="020F0502020204030204"/>
                <a:sym typeface="Calibri" panose="020F0502020204030204"/>
              </a:rPr>
              <a:t>PRADEEPRAJ P (212222240073)</a:t>
            </a:r>
            <a:endParaRPr sz="28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800">
                <a:solidFill>
                  <a:schemeClr val="dk1"/>
                </a:solidFill>
                <a:latin typeface="Calibri" panose="020F0502020204030204"/>
                <a:ea typeface="Calibri" panose="020F0502020204030204"/>
                <a:cs typeface="Calibri" panose="020F0502020204030204"/>
                <a:sym typeface="Calibri" panose="020F0502020204030204"/>
              </a:rPr>
              <a:t>2022-2026 Batch</a:t>
            </a:r>
            <a:br>
              <a:rPr lang="en-US" sz="2800">
                <a:solidFill>
                  <a:schemeClr val="dk1"/>
                </a:solidFill>
                <a:latin typeface="Calibri" panose="020F0502020204030204"/>
                <a:ea typeface="Calibri" panose="020F0502020204030204"/>
                <a:cs typeface="Calibri" panose="020F0502020204030204"/>
                <a:sym typeface="Calibri" panose="020F0502020204030204"/>
              </a:rPr>
            </a:b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800">
                <a:solidFill>
                  <a:schemeClr val="dk1"/>
                </a:solidFill>
                <a:latin typeface="Calibri" panose="020F0502020204030204"/>
                <a:ea typeface="Calibri" panose="020F0502020204030204"/>
                <a:cs typeface="Calibri" panose="020F0502020204030204"/>
                <a:sym typeface="Calibri" panose="020F0502020204030204"/>
              </a:rPr>
              <a:t> TEAM NO : 93</a:t>
            </a:r>
            <a:br>
              <a:rPr lang="en-US" sz="2800">
                <a:solidFill>
                  <a:schemeClr val="dk1"/>
                </a:solidFill>
                <a:latin typeface="Calibri" panose="020F0502020204030204"/>
                <a:ea typeface="Calibri" panose="020F0502020204030204"/>
                <a:cs typeface="Calibri" panose="020F0502020204030204"/>
                <a:sym typeface="Calibri" panose="020F0502020204030204"/>
              </a:rPr>
            </a:br>
            <a:endParaRPr lang="en-US"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800" b="1">
                <a:solidFill>
                  <a:schemeClr val="dk1"/>
                </a:solidFill>
                <a:latin typeface="Calibri" panose="020F0502020204030204"/>
                <a:ea typeface="Calibri" panose="020F0502020204030204"/>
                <a:cs typeface="Calibri" panose="020F0502020204030204"/>
                <a:sym typeface="Calibri" panose="020F0502020204030204"/>
              </a:rPr>
              <a:t>Under the guidance of:</a:t>
            </a:r>
            <a:br>
              <a:rPr lang="en-US" sz="2800" b="1">
                <a:solidFill>
                  <a:schemeClr val="dk1"/>
                </a:solidFill>
                <a:latin typeface="Calibri" panose="020F0502020204030204"/>
                <a:ea typeface="Calibri" panose="020F0502020204030204"/>
                <a:cs typeface="Calibri" panose="020F0502020204030204"/>
                <a:sym typeface="Calibri" panose="020F0502020204030204"/>
              </a:rPr>
            </a:br>
            <a:r>
              <a:rPr lang="en-US" sz="2800" b="1">
                <a:solidFill>
                  <a:schemeClr val="dk1"/>
                </a:solidFill>
                <a:latin typeface="Calibri" panose="020F0502020204030204"/>
                <a:ea typeface="Calibri" panose="020F0502020204030204"/>
                <a:cs typeface="Calibri" panose="020F0502020204030204"/>
                <a:sym typeface="Calibri" panose="020F0502020204030204"/>
              </a:rPr>
              <a:t>Mrs Sunitha T</a:t>
            </a:r>
            <a:br>
              <a:rPr lang="en-US" sz="2800" dirty="0">
                <a:solidFill>
                  <a:schemeClr val="dk1"/>
                </a:solidFill>
                <a:latin typeface="Calibri" panose="020F0502020204030204"/>
                <a:ea typeface="Calibri" panose="020F0502020204030204"/>
                <a:cs typeface="Calibri" panose="020F0502020204030204"/>
                <a:sym typeface="Calibri" panose="020F0502020204030204"/>
              </a:rPr>
            </a:br>
            <a:r>
              <a:rPr lang="en-US" sz="2800">
                <a:solidFill>
                  <a:schemeClr val="dk1"/>
                </a:solidFill>
                <a:latin typeface="Calibri" panose="020F0502020204030204"/>
                <a:ea typeface="Calibri" panose="020F0502020204030204"/>
                <a:cs typeface="Calibri" panose="020F0502020204030204"/>
                <a:sym typeface="Calibri" panose="020F0502020204030204"/>
              </a:rPr>
              <a:t>Designation, Department of AIML</a:t>
            </a: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742950" marR="0" lvl="1" indent="-134620" algn="l" rtl="0">
              <a:lnSpc>
                <a:spcPct val="100000"/>
              </a:lnSpc>
              <a:spcBef>
                <a:spcPts val="475"/>
              </a:spcBef>
              <a:spcAft>
                <a:spcPts val="0"/>
              </a:spcAft>
              <a:buClr>
                <a:schemeClr val="dk1"/>
              </a:buClr>
              <a:buSzPct val="100000"/>
              <a:buFont typeface="Arial" panose="020B0604020202020204"/>
              <a:buNone/>
            </a:pP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6" name="Google Shape;96;p14"/>
          <p:cNvSpPr txBox="1"/>
          <p:nvPr/>
        </p:nvSpPr>
        <p:spPr>
          <a:xfrm>
            <a:off x="-304800" y="5486400"/>
            <a:ext cx="9829800" cy="1295400"/>
          </a:xfrm>
          <a:prstGeom prst="rect">
            <a:avLst/>
          </a:prstGeom>
          <a:noFill/>
          <a:ln>
            <a:noFill/>
          </a:ln>
        </p:spPr>
        <p:txBody>
          <a:bodyPr spcFirstLastPara="1" wrap="square" lIns="91425" tIns="45700" rIns="91425" bIns="45700" anchor="t" anchorCtr="0">
            <a:normAutofit fontScale="47500" lnSpcReduction="20000"/>
          </a:bodyPr>
          <a:lstStyle/>
          <a:p>
            <a:pPr marL="0" marR="0" lvl="0" indent="0" algn="l" rtl="0">
              <a:spcBef>
                <a:spcPts val="0"/>
              </a:spcBef>
              <a:spcAft>
                <a:spcPts val="0"/>
              </a:spcAft>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	</a:t>
            </a:r>
            <a:endParaRPr lang="en-US"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b="1" cap="none">
                <a:solidFill>
                  <a:schemeClr val="dk1"/>
                </a:solidFill>
                <a:latin typeface="Calibri" panose="020F0502020204030204"/>
                <a:ea typeface="Calibri" panose="020F0502020204030204"/>
                <a:cs typeface="Calibri" panose="020F0502020204030204"/>
                <a:sym typeface="Calibri" panose="020F0502020204030204"/>
              </a:rPr>
              <a:t>  </a:t>
            </a:r>
            <a:r>
              <a:rPr lang="en-US" sz="3500" b="1" cap="none">
                <a:solidFill>
                  <a:schemeClr val="dk1"/>
                </a:solidFill>
                <a:latin typeface="Calibri" panose="020F0502020204030204"/>
                <a:ea typeface="Calibri" panose="020F0502020204030204"/>
                <a:cs typeface="Calibri" panose="020F0502020204030204"/>
                <a:sym typeface="Calibri" panose="020F0502020204030204"/>
              </a:rPr>
              <a:t>DEPARTMENT OF ARTIFICIAL INTELLIGENCE AND DATA SCIENCE</a:t>
            </a:r>
            <a:endParaRPr sz="35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b="1">
                <a:solidFill>
                  <a:schemeClr val="dk1"/>
                </a:solidFill>
                <a:latin typeface="Calibri" panose="020F0502020204030204"/>
                <a:ea typeface="Calibri" panose="020F0502020204030204"/>
                <a:cs typeface="Calibri" panose="020F0502020204030204"/>
                <a:sym typeface="Calibri" panose="020F0502020204030204"/>
              </a:rPr>
              <a:t>  </a:t>
            </a:r>
            <a:r>
              <a:rPr lang="en-US" sz="5100" b="1">
                <a:solidFill>
                  <a:schemeClr val="dk1"/>
                </a:solidFill>
                <a:latin typeface="Calibri" panose="020F0502020204030204"/>
                <a:ea typeface="Calibri" panose="020F0502020204030204"/>
                <a:cs typeface="Calibri" panose="020F0502020204030204"/>
                <a:sym typeface="Calibri" panose="020F0502020204030204"/>
              </a:rPr>
              <a:t>SAVEETHA ENGINEERING COLLEGE </a:t>
            </a:r>
            <a:endParaRPr lang="en-US" sz="51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b="1">
                <a:solidFill>
                  <a:schemeClr val="dk1"/>
                </a:solidFill>
                <a:latin typeface="Calibri" panose="020F0502020204030204"/>
                <a:ea typeface="Calibri" panose="020F0502020204030204"/>
                <a:cs typeface="Calibri" panose="020F0502020204030204"/>
                <a:sym typeface="Calibri" panose="020F0502020204030204"/>
              </a:rPr>
              <a:t>(Autonomous Institution – UGC, Govt. of India)</a:t>
            </a:r>
            <a:endParaRPr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 (Affiliated to Anna University, Approved by AICTE - Accredited by NBA &amp; NAAC – ‘A’ Grade - ISO 9001:2015 Certified)</a:t>
            </a:r>
            <a:endParaRPr lang="en-US" sz="24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400">
                <a:solidFill>
                  <a:schemeClr val="dk1"/>
                </a:solidFill>
                <a:latin typeface="Calibri" panose="020F0502020204030204"/>
                <a:ea typeface="Calibri" panose="020F0502020204030204"/>
                <a:cs typeface="Calibri" panose="020F0502020204030204"/>
                <a:sym typeface="Calibri" panose="020F0502020204030204"/>
              </a:rPr>
              <a:t>Saveetha Nagar, Thandalam, Chennai-602 105, TamilNadu, INDIA.</a:t>
            </a:r>
            <a:endParaRPr sz="2800">
              <a:solidFill>
                <a:schemeClr val="dk1"/>
              </a:solidFill>
              <a:latin typeface="Calibri" panose="020F0502020204030204"/>
              <a:ea typeface="Calibri" panose="020F0502020204030204"/>
              <a:cs typeface="Calibri" panose="020F0502020204030204"/>
              <a:sym typeface="Calibri" panose="020F0502020204030204"/>
            </a:endParaRPr>
          </a:p>
          <a:p>
            <a:pPr marL="742950" marR="0" lvl="1" indent="-201295" algn="l" rtl="0">
              <a:lnSpc>
                <a:spcPct val="100000"/>
              </a:lnSpc>
              <a:spcBef>
                <a:spcPts val="265"/>
              </a:spcBef>
              <a:spcAft>
                <a:spcPts val="0"/>
              </a:spcAft>
              <a:buClr>
                <a:schemeClr val="dk1"/>
              </a:buClr>
              <a:buSzPct val="100000"/>
              <a:buFont typeface="Arial" panose="020B0604020202020204"/>
              <a:buNone/>
            </a:pPr>
            <a:endParaRPr sz="2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97" name="Google Shape;97;p14"/>
          <p:cNvPicPr preferRelativeResize="0"/>
          <p:nvPr/>
        </p:nvPicPr>
        <p:blipFill rotWithShape="1">
          <a:blip r:embed="rId1"/>
          <a:srcRect/>
          <a:stretch>
            <a:fillRect/>
          </a:stretch>
        </p:blipFill>
        <p:spPr>
          <a:xfrm>
            <a:off x="4191000" y="5105400"/>
            <a:ext cx="685800" cy="666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5"/>
          <p:cNvSpPr txBox="1"/>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Agenda</a:t>
            </a:r>
            <a:endParaRPr lang="en-US"/>
          </a:p>
        </p:txBody>
      </p:sp>
      <p:sp>
        <p:nvSpPr>
          <p:cNvPr id="103" name="Google Shape;103;p15"/>
          <p:cNvSpPr txBox="1"/>
          <p:nvPr>
            <p:ph type="body" idx="4294967295"/>
          </p:nvPr>
        </p:nvSpPr>
        <p:spPr>
          <a:xfrm>
            <a:off x="342900" y="913765"/>
            <a:ext cx="8496300" cy="5787390"/>
          </a:xfrm>
          <a:prstGeom prst="rect">
            <a:avLst/>
          </a:prstGeom>
          <a:noFill/>
          <a:ln>
            <a:noFill/>
          </a:ln>
        </p:spPr>
        <p:txBody>
          <a:bodyPr spcFirstLastPara="1" wrap="square" lIns="91425" tIns="45700" rIns="91425" bIns="45700" anchor="t" anchorCtr="0">
            <a:noAutofit/>
          </a:bodyPr>
          <a:lstStyle/>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Introduction</a:t>
            </a:r>
            <a:endParaRPr lang="en-US" altLang="en-US" sz="2400"/>
          </a:p>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Statement of the Problem</a:t>
            </a:r>
            <a:endParaRPr lang="en-US" altLang="en-US" sz="2400"/>
          </a:p>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Scope of the project</a:t>
            </a:r>
            <a:endParaRPr lang="en-US" altLang="en-US" sz="2400"/>
          </a:p>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Methodology </a:t>
            </a:r>
            <a:endParaRPr lang="en-US" altLang="en-US" sz="2400"/>
          </a:p>
          <a:p>
            <a:pPr marL="971550" lvl="1"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Architectural Diagram</a:t>
            </a:r>
            <a:endParaRPr lang="en-US" altLang="en-US" sz="2400"/>
          </a:p>
          <a:p>
            <a:pPr marL="971550" lvl="1"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Design - Use Case Diagram, Class Diagram, Sequence diagram</a:t>
            </a:r>
            <a:endParaRPr lang="en-US" altLang="en-US" sz="2400"/>
          </a:p>
          <a:p>
            <a:pPr marL="971550" lvl="1"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Algorithm used </a:t>
            </a:r>
            <a:endParaRPr lang="en-US" altLang="en-US" sz="2400"/>
          </a:p>
          <a:p>
            <a:pPr marL="971550" lvl="1"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Implementation</a:t>
            </a:r>
            <a:endParaRPr lang="en-US" altLang="en-US" sz="2400"/>
          </a:p>
          <a:p>
            <a:pPr marL="971550" lvl="1"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Important code segments</a:t>
            </a:r>
            <a:endParaRPr lang="en-US" altLang="en-US" sz="2400"/>
          </a:p>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Output, Results</a:t>
            </a:r>
            <a:endParaRPr lang="en-US" altLang="en-US" sz="2400"/>
          </a:p>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Test Cases</a:t>
            </a:r>
            <a:endParaRPr lang="en-US" altLang="en-US" sz="2400"/>
          </a:p>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Conclusions</a:t>
            </a:r>
            <a:endParaRPr lang="en-US" altLang="en-US" sz="2400"/>
          </a:p>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Future work</a:t>
            </a:r>
            <a:endParaRPr lang="en-US" altLang="en-US" sz="2400"/>
          </a:p>
          <a:p>
            <a:pPr marL="514350" lvl="0" indent="-468630" algn="l" rtl="0">
              <a:lnSpc>
                <a:spcPct val="100000"/>
              </a:lnSpc>
              <a:spcBef>
                <a:spcPts val="0"/>
              </a:spcBef>
              <a:spcAft>
                <a:spcPts val="0"/>
              </a:spcAft>
              <a:buClr>
                <a:schemeClr val="dk1"/>
              </a:buClr>
              <a:buSzPct val="100000"/>
              <a:buFont typeface="Calibri" panose="020F0502020204030204"/>
              <a:buAutoNum type="arabicPeriod"/>
            </a:pPr>
            <a:r>
              <a:rPr lang="en-US" altLang="en-US" sz="2400"/>
              <a:t>References</a:t>
            </a:r>
            <a:endParaRPr lang="en-US" altLang="en-US" sz="2400"/>
          </a:p>
          <a:p>
            <a:pPr marL="342900" lvl="0" indent="-342900" algn="l" rtl="0">
              <a:spcBef>
                <a:spcPts val="640"/>
              </a:spcBef>
              <a:spcAft>
                <a:spcPts val="0"/>
              </a:spcAft>
              <a:buClr>
                <a:schemeClr val="dk1"/>
              </a:buClr>
              <a:buSzPct val="100000"/>
              <a:buNone/>
            </a:pPr>
            <a:endParaRPr lang="en-US" altLang="en-US"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16"/>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Introduction</a:t>
            </a:r>
            <a:endParaRPr lang="en-US"/>
          </a:p>
        </p:txBody>
      </p:sp>
      <p:sp>
        <p:nvSpPr>
          <p:cNvPr id="109" name="Google Shape;109;p16"/>
          <p:cNvSpPr txBox="1"/>
          <p:nvPr>
            <p:ph type="body" idx="4294967295"/>
          </p:nvPr>
        </p:nvSpPr>
        <p:spPr>
          <a:xfrm>
            <a:off x="365125" y="990600"/>
            <a:ext cx="8474075" cy="5257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10000"/>
              </a:lnSpc>
              <a:spcBef>
                <a:spcPts val="520"/>
              </a:spcBef>
              <a:spcAft>
                <a:spcPts val="0"/>
              </a:spcAft>
              <a:buSzPts val="3200"/>
              <a:buChar char="•"/>
            </a:pPr>
            <a:r>
              <a:rPr lang="en-US" altLang="en-US" sz="2600">
                <a:solidFill>
                  <a:schemeClr val="tx1"/>
                </a:solidFill>
                <a:sym typeface="Calibri" panose="020F0502020204030204"/>
              </a:rPr>
              <a:t>FoodLoop: AI-Powered Hyperlocal Application for Optimized Food Redistribution and Community Hunger Mitigation</a:t>
            </a:r>
            <a:r>
              <a:rPr lang="en-US" altLang="en-US" sz="2800">
                <a:solidFill>
                  <a:schemeClr val="tx1"/>
                </a:solidFill>
                <a:sym typeface="Calibri" panose="020F0502020204030204"/>
              </a:rPr>
              <a:t> -&gt;</a:t>
            </a:r>
            <a:endParaRPr lang="en-US" sz="2800"/>
          </a:p>
          <a:p>
            <a:pPr marL="742950" lvl="1" indent="-299085" algn="l" rtl="0">
              <a:lnSpc>
                <a:spcPct val="110000"/>
              </a:lnSpc>
              <a:spcBef>
                <a:spcPts val="520"/>
              </a:spcBef>
              <a:spcAft>
                <a:spcPts val="0"/>
              </a:spcAft>
              <a:buClr>
                <a:schemeClr val="dk1"/>
              </a:buClr>
              <a:buSzPts val="2800"/>
              <a:buChar char="–"/>
            </a:pPr>
            <a:r>
              <a:rPr lang="en-US" altLang="en-US" sz="2400">
                <a:sym typeface="+mn-ea"/>
              </a:rPr>
              <a:t>AI-powered application connecting food donors, NGOs, and recipients.</a:t>
            </a:r>
            <a:r>
              <a:rPr lang="en-US" sz="2400">
                <a:sym typeface="+mn-ea"/>
              </a:rPr>
              <a:t> </a:t>
            </a:r>
            <a:endParaRPr lang="en-US" sz="2400"/>
          </a:p>
          <a:p>
            <a:pPr marL="742950" lvl="1" indent="-299085" algn="l" rtl="0">
              <a:lnSpc>
                <a:spcPct val="110000"/>
              </a:lnSpc>
              <a:spcBef>
                <a:spcPts val="520"/>
              </a:spcBef>
              <a:spcAft>
                <a:spcPts val="0"/>
              </a:spcAft>
              <a:buClr>
                <a:schemeClr val="dk1"/>
              </a:buClr>
              <a:buSzPts val="2800"/>
              <a:buChar char="–"/>
            </a:pPr>
            <a:r>
              <a:rPr lang="en-US" altLang="en-US" sz="2400">
                <a:sym typeface="+mn-ea"/>
              </a:rPr>
              <a:t>Uses AI and location data for smart food redistribution.</a:t>
            </a:r>
            <a:endParaRPr lang="en-US" sz="2400"/>
          </a:p>
          <a:p>
            <a:pPr marL="742950" lvl="1" indent="-299085" algn="l" rtl="0">
              <a:lnSpc>
                <a:spcPct val="110000"/>
              </a:lnSpc>
              <a:spcBef>
                <a:spcPts val="520"/>
              </a:spcBef>
              <a:spcAft>
                <a:spcPts val="0"/>
              </a:spcAft>
              <a:buClr>
                <a:schemeClr val="dk1"/>
              </a:buClr>
              <a:buSzPts val="2800"/>
              <a:buChar char="–"/>
            </a:pPr>
            <a:r>
              <a:rPr lang="en-US" altLang="en-US" sz="2400">
                <a:sym typeface="+mn-ea"/>
              </a:rPr>
              <a:t>Enables real-time chat-based coordination for food collection and delivery.</a:t>
            </a:r>
            <a:endParaRPr lang="en-US" altLang="en-US" sz="2400"/>
          </a:p>
          <a:p>
            <a:pPr marL="742950" lvl="1" indent="-299085" algn="l" rtl="0">
              <a:lnSpc>
                <a:spcPct val="110000"/>
              </a:lnSpc>
              <a:spcBef>
                <a:spcPts val="520"/>
              </a:spcBef>
              <a:spcAft>
                <a:spcPts val="0"/>
              </a:spcAft>
              <a:buClr>
                <a:schemeClr val="dk1"/>
              </a:buClr>
              <a:buSzPts val="2800"/>
              <a:buChar char="–"/>
            </a:pPr>
            <a:r>
              <a:rPr lang="en-US" altLang="en-US" sz="2400">
                <a:sym typeface="+mn-ea"/>
              </a:rPr>
              <a:t>Promotes sustainability and supports the Zero Hunger goal.</a:t>
            </a:r>
            <a:endParaRPr 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17"/>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Statement of the Problem</a:t>
            </a:r>
            <a:endParaRPr lang="en-US"/>
          </a:p>
        </p:txBody>
      </p:sp>
      <p:sp>
        <p:nvSpPr>
          <p:cNvPr id="115" name="Google Shape;115;p17"/>
          <p:cNvSpPr txBox="1"/>
          <p:nvPr>
            <p:ph type="body" idx="4294967295"/>
          </p:nvPr>
        </p:nvSpPr>
        <p:spPr>
          <a:xfrm>
            <a:off x="335280" y="990600"/>
            <a:ext cx="8503920" cy="5257800"/>
          </a:xfrm>
          <a:prstGeom prst="rect">
            <a:avLst/>
          </a:prstGeom>
          <a:noFill/>
          <a:ln>
            <a:noFill/>
          </a:ln>
        </p:spPr>
        <p:txBody>
          <a:bodyPr spcFirstLastPara="1" wrap="square" lIns="91425" tIns="45700" rIns="91425" bIns="45700" anchor="t" anchorCtr="0">
            <a:normAutofit lnSpcReduction="20000"/>
          </a:bodyPr>
          <a:lstStyle/>
          <a:p>
            <a:pPr marL="342900" lvl="0" indent="-342900" algn="l" rtl="0">
              <a:lnSpc>
                <a:spcPct val="110000"/>
              </a:lnSpc>
              <a:spcBef>
                <a:spcPts val="520"/>
              </a:spcBef>
              <a:spcAft>
                <a:spcPts val="0"/>
              </a:spcAft>
              <a:buSzPts val="3200"/>
              <a:buChar char="•"/>
            </a:pPr>
            <a:r>
              <a:rPr lang="en-US" altLang="en-US" sz="2600">
                <a:solidFill>
                  <a:schemeClr val="tx1"/>
                </a:solidFill>
                <a:sym typeface="Calibri" panose="020F0502020204030204"/>
              </a:rPr>
              <a:t>FoodLoop: AI-Powered Hyperlocal Application for Optimized Food Redistribution and Community Hunger Mitigation</a:t>
            </a:r>
            <a:r>
              <a:rPr lang="en-US" altLang="en-US" sz="2800">
                <a:solidFill>
                  <a:schemeClr val="tx1"/>
                </a:solidFill>
                <a:sym typeface="Calibri" panose="020F0502020204030204"/>
              </a:rPr>
              <a:t> -&gt;</a:t>
            </a:r>
            <a:endParaRPr sz="2800"/>
          </a:p>
          <a:p>
            <a:pPr marL="742950" lvl="1" indent="-285750" algn="l" rtl="0">
              <a:lnSpc>
                <a:spcPct val="110000"/>
              </a:lnSpc>
              <a:spcBef>
                <a:spcPts val="520"/>
              </a:spcBef>
              <a:spcAft>
                <a:spcPts val="0"/>
              </a:spcAft>
              <a:buSzPts val="2800"/>
              <a:buChar char="–"/>
            </a:pPr>
            <a:r>
              <a:rPr lang="en-US" altLang="en-US" sz="2400">
                <a:sym typeface="+mn-ea"/>
              </a:rPr>
              <a:t>Large amounts of edible food are wasted daily while many people still face hunger.</a:t>
            </a:r>
            <a:r>
              <a:rPr lang="en-US" sz="2400">
                <a:sym typeface="+mn-ea"/>
              </a:rPr>
              <a:t> </a:t>
            </a:r>
            <a:endParaRPr lang="en-US" sz="2400"/>
          </a:p>
          <a:p>
            <a:pPr marL="742950" lvl="1" indent="-285750" algn="l" rtl="0">
              <a:lnSpc>
                <a:spcPct val="110000"/>
              </a:lnSpc>
              <a:spcBef>
                <a:spcPts val="520"/>
              </a:spcBef>
              <a:spcAft>
                <a:spcPts val="0"/>
              </a:spcAft>
              <a:buSzPts val="2800"/>
              <a:buChar char="–"/>
            </a:pPr>
            <a:r>
              <a:rPr lang="en-US" altLang="en-US" sz="2400">
                <a:sym typeface="+mn-ea"/>
              </a:rPr>
              <a:t>There is no efficient, real-time system to connect food donors with nearby recipients or NGOs.</a:t>
            </a:r>
            <a:endParaRPr lang="en-US" sz="2400"/>
          </a:p>
          <a:p>
            <a:pPr marL="742950" lvl="1" indent="-285750" algn="l" rtl="0">
              <a:lnSpc>
                <a:spcPct val="110000"/>
              </a:lnSpc>
              <a:spcBef>
                <a:spcPts val="520"/>
              </a:spcBef>
              <a:spcAft>
                <a:spcPts val="0"/>
              </a:spcAft>
              <a:buSzPts val="2800"/>
              <a:buChar char="–"/>
            </a:pPr>
            <a:r>
              <a:rPr lang="en-US" altLang="en-US" sz="2400">
                <a:sym typeface="+mn-ea"/>
              </a:rPr>
              <a:t>Manual coordination leads to delays, food spoilage, and poor redistribution efficiency.</a:t>
            </a:r>
            <a:endParaRPr lang="en-US" altLang="en-US" sz="2400"/>
          </a:p>
          <a:p>
            <a:pPr marL="742950" lvl="1" indent="-285750" algn="l" rtl="0">
              <a:lnSpc>
                <a:spcPct val="110000"/>
              </a:lnSpc>
              <a:spcBef>
                <a:spcPts val="520"/>
              </a:spcBef>
              <a:spcAft>
                <a:spcPts val="0"/>
              </a:spcAft>
              <a:buSzPts val="2800"/>
              <a:buChar char="–"/>
            </a:pPr>
            <a:r>
              <a:rPr lang="en-US" altLang="en-US" sz="2400">
                <a:sym typeface="+mn-ea"/>
              </a:rPr>
              <a:t>A smart, automated solution is needed to optimize food collection and reduce hunger at the community level.</a:t>
            </a:r>
            <a:endParaRPr 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18"/>
          <p:cNvSpPr txBox="1"/>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Purpose of the project</a:t>
            </a:r>
            <a:endParaRPr lang="en-US"/>
          </a:p>
        </p:txBody>
      </p:sp>
      <p:sp>
        <p:nvSpPr>
          <p:cNvPr id="121" name="Google Shape;121;p18"/>
          <p:cNvSpPr txBox="1"/>
          <p:nvPr>
            <p:ph type="body" idx="4294967295"/>
          </p:nvPr>
        </p:nvSpPr>
        <p:spPr>
          <a:xfrm>
            <a:off x="395605" y="915035"/>
            <a:ext cx="8380095" cy="5723255"/>
          </a:xfrm>
          <a:prstGeom prst="rect">
            <a:avLst/>
          </a:prstGeom>
          <a:noFill/>
          <a:ln>
            <a:noFill/>
          </a:ln>
        </p:spPr>
        <p:txBody>
          <a:bodyPr spcFirstLastPara="1" wrap="square" lIns="91425" tIns="45700" rIns="91425" bIns="45700" anchor="t" anchorCtr="0">
            <a:normAutofit fontScale="60000"/>
          </a:bodyPr>
          <a:lstStyle/>
          <a:p>
            <a:pPr marL="342900" lvl="0" indent="-342900" algn="l" rtl="0">
              <a:lnSpc>
                <a:spcPct val="100000"/>
              </a:lnSpc>
              <a:spcBef>
                <a:spcPts val="520"/>
              </a:spcBef>
              <a:spcAft>
                <a:spcPts val="0"/>
              </a:spcAft>
              <a:buSzPts val="3200"/>
              <a:buChar char="•"/>
            </a:pPr>
            <a:r>
              <a:rPr lang="en-US" sz="4335">
                <a:sym typeface="+mn-ea"/>
              </a:rPr>
              <a:t>Why </a:t>
            </a:r>
            <a:r>
              <a:rPr lang="en-US" altLang="en-US" sz="4335">
                <a:solidFill>
                  <a:schemeClr val="tx1"/>
                </a:solidFill>
                <a:sym typeface="Calibri" panose="020F0502020204030204"/>
              </a:rPr>
              <a:t>FoodLoop?</a:t>
            </a:r>
            <a:endParaRPr lang="en-US" sz="4335"/>
          </a:p>
          <a:p>
            <a:pPr marL="742950" lvl="1" indent="-299085" algn="l" rtl="0">
              <a:lnSpc>
                <a:spcPct val="100000"/>
              </a:lnSpc>
              <a:spcBef>
                <a:spcPts val="520"/>
              </a:spcBef>
              <a:spcAft>
                <a:spcPts val="0"/>
              </a:spcAft>
              <a:buClr>
                <a:schemeClr val="dk1"/>
              </a:buClr>
              <a:buSzPts val="2800"/>
              <a:buChar char="–"/>
            </a:pPr>
            <a:r>
              <a:rPr lang="en-US" altLang="en-US" sz="4000">
                <a:sym typeface="+mn-ea"/>
              </a:rPr>
              <a:t>The purpose of the FoodLoop project is to leverage Artificial Intelligence technology to develop an automated food redistribution system.</a:t>
            </a:r>
            <a:r>
              <a:rPr lang="en-US" sz="4000">
                <a:sym typeface="+mn-ea"/>
              </a:rPr>
              <a:t> </a:t>
            </a:r>
            <a:endParaRPr lang="en-US" sz="4000"/>
          </a:p>
          <a:p>
            <a:pPr marL="742950" lvl="1" indent="-299085" algn="l" rtl="0">
              <a:lnSpc>
                <a:spcPct val="100000"/>
              </a:lnSpc>
              <a:spcBef>
                <a:spcPts val="520"/>
              </a:spcBef>
              <a:spcAft>
                <a:spcPts val="0"/>
              </a:spcAft>
              <a:buClr>
                <a:schemeClr val="dk1"/>
              </a:buClr>
              <a:buSzPts val="2800"/>
              <a:buChar char="–"/>
            </a:pPr>
            <a:r>
              <a:rPr lang="en-US" altLang="en-US" sz="4000">
                <a:sym typeface="+mn-ea"/>
              </a:rPr>
              <a:t>It aims to connect food donors, NGOs, and recipients in real time to minimize food wastage and community hunger.</a:t>
            </a:r>
            <a:r>
              <a:rPr lang="en-US" sz="4000">
                <a:sym typeface="+mn-ea"/>
              </a:rPr>
              <a:t> </a:t>
            </a:r>
            <a:endParaRPr lang="en-US" sz="4000"/>
          </a:p>
          <a:p>
            <a:pPr marL="742950" lvl="1" indent="-299085" algn="l" rtl="0">
              <a:lnSpc>
                <a:spcPct val="100000"/>
              </a:lnSpc>
              <a:spcBef>
                <a:spcPts val="520"/>
              </a:spcBef>
              <a:spcAft>
                <a:spcPts val="0"/>
              </a:spcAft>
              <a:buClr>
                <a:schemeClr val="dk1"/>
              </a:buClr>
              <a:buSzPts val="2800"/>
              <a:buChar char="–"/>
            </a:pPr>
            <a:r>
              <a:rPr lang="en-US" altLang="en-US" sz="4000">
                <a:sym typeface="+mn-ea"/>
              </a:rPr>
              <a:t>The system uses machine learning and geolocation intelligence to efficiently match surplus food with nearby needy communities.</a:t>
            </a:r>
            <a:endParaRPr lang="en-US" altLang="en-US" sz="3715"/>
          </a:p>
          <a:p>
            <a:pPr marL="742950" lvl="1" indent="-299085" algn="l" rtl="0">
              <a:lnSpc>
                <a:spcPct val="110000"/>
              </a:lnSpc>
              <a:spcBef>
                <a:spcPts val="520"/>
              </a:spcBef>
              <a:spcAft>
                <a:spcPts val="0"/>
              </a:spcAft>
              <a:buClr>
                <a:schemeClr val="dk1"/>
              </a:buClr>
              <a:buSzPts val="2800"/>
              <a:buChar char="–"/>
            </a:pPr>
            <a:r>
              <a:rPr lang="en-US" sz="4000">
                <a:sym typeface="+mn-ea"/>
              </a:rPr>
              <a:t>The project aims to achieve the following objectives :</a:t>
            </a:r>
            <a:endParaRPr lang="en-US" sz="4000"/>
          </a:p>
          <a:p>
            <a:pPr marL="1143000" lvl="2" indent="-228600" algn="l" rtl="0">
              <a:lnSpc>
                <a:spcPct val="110000"/>
              </a:lnSpc>
              <a:spcBef>
                <a:spcPts val="520"/>
              </a:spcBef>
              <a:spcAft>
                <a:spcPts val="0"/>
              </a:spcAft>
              <a:buSzPts val="2400"/>
              <a:buChar char="•"/>
            </a:pPr>
            <a:r>
              <a:rPr lang="en-US" altLang="en-US" sz="3335">
                <a:sym typeface="+mn-ea"/>
              </a:rPr>
              <a:t>Minimize food wastage through efficient redistribution</a:t>
            </a:r>
            <a:endParaRPr lang="en-US" altLang="en-US" sz="3335"/>
          </a:p>
          <a:p>
            <a:pPr marL="1143000" lvl="2" indent="-228600" algn="l" rtl="0">
              <a:lnSpc>
                <a:spcPct val="110000"/>
              </a:lnSpc>
              <a:spcBef>
                <a:spcPts val="520"/>
              </a:spcBef>
              <a:spcAft>
                <a:spcPts val="0"/>
              </a:spcAft>
              <a:buSzPts val="2400"/>
              <a:buChar char="•"/>
            </a:pPr>
            <a:r>
              <a:rPr lang="en-US" altLang="en-US" sz="3335">
                <a:sym typeface="+mn-ea"/>
              </a:rPr>
              <a:t>Enhance coordination and speed between donors and recipients.</a:t>
            </a:r>
            <a:endParaRPr lang="en-US" altLang="en-US" sz="3335"/>
          </a:p>
          <a:p>
            <a:pPr marL="1143000" lvl="2" indent="-228600" algn="l" rtl="0">
              <a:lnSpc>
                <a:spcPct val="110000"/>
              </a:lnSpc>
              <a:spcBef>
                <a:spcPts val="520"/>
              </a:spcBef>
              <a:spcAft>
                <a:spcPts val="0"/>
              </a:spcAft>
              <a:buSzPts val="2400"/>
              <a:buChar char="•"/>
            </a:pPr>
            <a:r>
              <a:rPr lang="en-US" altLang="en-US" sz="3335">
                <a:sym typeface="+mn-ea"/>
              </a:rPr>
              <a:t>Support sustainability goals like Zero Hunger (SDG 2).</a:t>
            </a:r>
            <a:endParaRPr lang="en-US" sz="333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19"/>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sym typeface="+mn-ea"/>
              </a:rPr>
              <a:t>Proposed Methodology</a:t>
            </a:r>
            <a:endParaRPr lang="en-US"/>
          </a:p>
        </p:txBody>
      </p:sp>
      <p:sp>
        <p:nvSpPr>
          <p:cNvPr id="127" name="Google Shape;127;p19"/>
          <p:cNvSpPr txBox="1"/>
          <p:nvPr>
            <p:ph type="body" idx="4294967295"/>
          </p:nvPr>
        </p:nvSpPr>
        <p:spPr>
          <a:xfrm>
            <a:off x="375285" y="990600"/>
            <a:ext cx="8463915" cy="5257800"/>
          </a:xfrm>
          <a:prstGeom prst="rect">
            <a:avLst/>
          </a:prstGeom>
          <a:noFill/>
          <a:ln>
            <a:noFill/>
          </a:ln>
        </p:spPr>
        <p:txBody>
          <a:bodyPr spcFirstLastPara="1" wrap="square" lIns="91425" tIns="45700" rIns="91425" bIns="45700" anchor="t" anchorCtr="0">
            <a:normAutofit/>
          </a:bodyPr>
          <a:lstStyle/>
          <a:p>
            <a:pPr marL="342900" lvl="0" indent="-342900" algn="l" rtl="0">
              <a:spcBef>
                <a:spcPts val="520"/>
              </a:spcBef>
              <a:spcAft>
                <a:spcPts val="0"/>
              </a:spcAft>
              <a:buSzPts val="3200"/>
              <a:buChar char="•"/>
            </a:pPr>
            <a:r>
              <a:rPr lang="en-US" sz="2600">
                <a:sym typeface="+mn-ea"/>
              </a:rPr>
              <a:t>Methodology for - </a:t>
            </a:r>
            <a:r>
              <a:rPr lang="en-US" altLang="en-US" sz="2600">
                <a:solidFill>
                  <a:schemeClr val="tx1"/>
                </a:solidFill>
                <a:sym typeface="Calibri" panose="020F0502020204030204"/>
              </a:rPr>
              <a:t>FoodLoop: AI-Powered Hyperlocal Application for Optimized Food Redistribution and Community Hunger Mitigation </a:t>
            </a:r>
            <a:r>
              <a:rPr lang="en-US" altLang="en-US" sz="2800">
                <a:solidFill>
                  <a:schemeClr val="tx1"/>
                </a:solidFill>
                <a:sym typeface="Calibri" panose="020F0502020204030204"/>
              </a:rPr>
              <a:t>:</a:t>
            </a:r>
            <a:endParaRPr lang="en-US" altLang="en-US" sz="2800">
              <a:solidFill>
                <a:schemeClr val="tx1"/>
              </a:solidFill>
              <a:sym typeface="Calibri" panose="020F0502020204030204"/>
            </a:endParaRPr>
          </a:p>
          <a:p>
            <a:pPr marL="1371600" lvl="1" indent="-457200" algn="l" rtl="0">
              <a:spcBef>
                <a:spcPts val="520"/>
              </a:spcBef>
              <a:spcAft>
                <a:spcPts val="0"/>
              </a:spcAft>
              <a:buSzPts val="3200"/>
              <a:buFont typeface="+mj-lt"/>
              <a:buAutoNum type="arabicPeriod"/>
            </a:pPr>
            <a:r>
              <a:rPr lang="en-US" altLang="en-US" sz="2400">
                <a:sym typeface="+mn-ea"/>
              </a:rPr>
              <a:t>User Registration &amp; Authentication</a:t>
            </a:r>
            <a:endParaRPr lang="en-US" altLang="en-US" sz="2400"/>
          </a:p>
          <a:p>
            <a:pPr marL="1371600" lvl="1" indent="-457200" algn="l" rtl="0">
              <a:spcBef>
                <a:spcPts val="520"/>
              </a:spcBef>
              <a:spcAft>
                <a:spcPts val="0"/>
              </a:spcAft>
              <a:buSzPts val="3200"/>
              <a:buFont typeface="+mj-lt"/>
              <a:buAutoNum type="arabicPeriod"/>
            </a:pPr>
            <a:r>
              <a:rPr lang="en-US" altLang="en-US" sz="2400">
                <a:sym typeface="+mn-ea"/>
              </a:rPr>
              <a:t>Food Listing &amp; Availability</a:t>
            </a:r>
            <a:endParaRPr lang="en-US" altLang="en-US" sz="2400"/>
          </a:p>
          <a:p>
            <a:pPr marL="1371600" lvl="1" indent="-457200" algn="l" rtl="0">
              <a:spcBef>
                <a:spcPts val="520"/>
              </a:spcBef>
              <a:spcAft>
                <a:spcPts val="0"/>
              </a:spcAft>
              <a:buSzPts val="3200"/>
              <a:buFont typeface="+mj-lt"/>
              <a:buAutoNum type="arabicPeriod"/>
            </a:pPr>
            <a:r>
              <a:rPr lang="en-US" altLang="en-US" sz="2400">
                <a:sym typeface="+mn-ea"/>
              </a:rPr>
              <a:t>Smart Matching System</a:t>
            </a:r>
            <a:endParaRPr lang="en-US" altLang="en-US" sz="2400"/>
          </a:p>
          <a:p>
            <a:pPr marL="1371600" lvl="1" indent="-457200" algn="l" rtl="0">
              <a:spcBef>
                <a:spcPts val="520"/>
              </a:spcBef>
              <a:spcAft>
                <a:spcPts val="0"/>
              </a:spcAft>
              <a:buSzPts val="3200"/>
              <a:buFont typeface="+mj-lt"/>
              <a:buAutoNum type="arabicPeriod"/>
            </a:pPr>
            <a:r>
              <a:rPr lang="en-US" altLang="en-US" sz="2400">
                <a:sym typeface="+mn-ea"/>
              </a:rPr>
              <a:t>Real-Time Notifications &amp; Tracking</a:t>
            </a:r>
            <a:endParaRPr lang="en-US" altLang="en-US" sz="2400"/>
          </a:p>
          <a:p>
            <a:pPr marL="1371600" lvl="1" indent="-457200" algn="l" rtl="0">
              <a:spcBef>
                <a:spcPts val="520"/>
              </a:spcBef>
              <a:spcAft>
                <a:spcPts val="0"/>
              </a:spcAft>
              <a:buSzPts val="3200"/>
              <a:buFont typeface="+mj-lt"/>
              <a:buAutoNum type="arabicPeriod"/>
            </a:pPr>
            <a:r>
              <a:rPr lang="en-US" altLang="en-US" sz="2400">
                <a:sym typeface="+mn-ea"/>
              </a:rPr>
              <a:t>Data Analytics &amp; Insights</a:t>
            </a:r>
            <a:endParaRPr lang="en-US" altLang="en-US" sz="2400"/>
          </a:p>
          <a:p>
            <a:pPr marL="1371600" lvl="1" indent="-457200" algn="l" rtl="0">
              <a:spcBef>
                <a:spcPts val="520"/>
              </a:spcBef>
              <a:spcAft>
                <a:spcPts val="0"/>
              </a:spcAft>
              <a:buSzPts val="3200"/>
              <a:buFont typeface="+mj-lt"/>
              <a:buAutoNum type="arabicPeriod"/>
            </a:pPr>
            <a:r>
              <a:rPr lang="en-US" altLang="en-US" sz="2400">
                <a:sym typeface="+mn-ea"/>
              </a:rPr>
              <a:t>Feedback &amp; Verification System</a:t>
            </a:r>
            <a:endParaRPr lang="en-US" altLang="en-US" sz="2400"/>
          </a:p>
          <a:p>
            <a:pPr marL="1371600" lvl="1" indent="-457200" algn="l" rtl="0">
              <a:spcBef>
                <a:spcPts val="520"/>
              </a:spcBef>
              <a:spcAft>
                <a:spcPts val="0"/>
              </a:spcAft>
              <a:buSzPts val="3200"/>
              <a:buFont typeface="+mj-lt"/>
              <a:buAutoNum type="arabicPeriod"/>
            </a:pPr>
            <a:r>
              <a:rPr lang="en-US" altLang="en-US" sz="2400">
                <a:sym typeface="+mn-ea"/>
              </a:rPr>
              <a:t>Sustainability Integration</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21"/>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panose="020B0604020202020204"/>
              <a:buNone/>
            </a:pPr>
            <a:r>
              <a:rPr lang="en-US" altLang="en-US" sz="3335">
                <a:sym typeface="+mn-ea"/>
              </a:rPr>
              <a:t>SOFTWARE REQUIREMENT SPECIFICATION (SRS)</a:t>
            </a:r>
            <a:endParaRPr lang="en-US" sz="3335"/>
          </a:p>
        </p:txBody>
      </p:sp>
      <p:sp>
        <p:nvSpPr>
          <p:cNvPr id="139" name="Google Shape;139;p21"/>
          <p:cNvSpPr txBox="1"/>
          <p:nvPr>
            <p:ph type="body" idx="4294967295"/>
          </p:nvPr>
        </p:nvSpPr>
        <p:spPr>
          <a:xfrm>
            <a:off x="372745" y="1038225"/>
            <a:ext cx="8314690" cy="5525770"/>
          </a:xfrm>
          <a:prstGeom prst="rect">
            <a:avLst/>
          </a:prstGeom>
          <a:noFill/>
          <a:ln>
            <a:noFill/>
          </a:ln>
        </p:spPr>
        <p:txBody>
          <a:bodyPr spcFirstLastPara="1" wrap="square" lIns="91425" tIns="45700" rIns="91425" bIns="45700" anchor="t" anchorCtr="0">
            <a:noAutofit/>
          </a:bodyPr>
          <a:lstStyle/>
          <a:p>
            <a:pPr marL="15240" lvl="0" indent="0" algn="just" rtl="0">
              <a:lnSpc>
                <a:spcPct val="90000"/>
              </a:lnSpc>
              <a:spcBef>
                <a:spcPts val="1000"/>
              </a:spcBef>
              <a:spcAft>
                <a:spcPts val="0"/>
              </a:spcAft>
              <a:buSzPct val="168000"/>
              <a:buNone/>
            </a:pPr>
            <a:r>
              <a:rPr lang="en-US" altLang="en-US" sz="2600"/>
              <a:t>1. Purpose</a:t>
            </a:r>
            <a:endParaRPr lang="en-US" altLang="en-US" sz="2300"/>
          </a:p>
          <a:p>
            <a:pPr marL="342900" lvl="0" indent="-327660" algn="just" rtl="0">
              <a:lnSpc>
                <a:spcPct val="90000"/>
              </a:lnSpc>
              <a:spcBef>
                <a:spcPts val="1000"/>
              </a:spcBef>
              <a:spcAft>
                <a:spcPts val="0"/>
              </a:spcAft>
              <a:buSzPct val="168000"/>
              <a:buChar char="•"/>
            </a:pPr>
            <a:r>
              <a:rPr lang="en-US" altLang="en-US" sz="2300"/>
              <a:t>To build an AI-powered hyperlocal food redistribution application that connects food donors, NGOs, and recipients in real time.</a:t>
            </a:r>
            <a:endParaRPr lang="en-US" altLang="en-US" sz="2300"/>
          </a:p>
          <a:p>
            <a:pPr marL="342900" lvl="0" indent="-327660" algn="just" rtl="0">
              <a:lnSpc>
                <a:spcPct val="90000"/>
              </a:lnSpc>
              <a:spcBef>
                <a:spcPts val="1000"/>
              </a:spcBef>
              <a:spcAft>
                <a:spcPts val="0"/>
              </a:spcAft>
              <a:buSzPct val="168000"/>
              <a:buChar char="•"/>
            </a:pPr>
            <a:r>
              <a:rPr lang="en-US" altLang="en-US" sz="2300"/>
              <a:t>Provides smart food–recipient matching using machine learning, geolocation-based allocation, real-time chat coordination, delivery tracking, feedback verification, and sustainability monitoring.</a:t>
            </a:r>
            <a:endParaRPr lang="en-US" altLang="en-US" sz="2300"/>
          </a:p>
          <a:p>
            <a:pPr marL="15240" lvl="0" indent="0" algn="just" rtl="0">
              <a:lnSpc>
                <a:spcPct val="90000"/>
              </a:lnSpc>
              <a:spcBef>
                <a:spcPts val="1000"/>
              </a:spcBef>
              <a:spcAft>
                <a:spcPts val="0"/>
              </a:spcAft>
              <a:buSzPct val="168000"/>
              <a:buNone/>
            </a:pPr>
            <a:r>
              <a:rPr lang="en-US" altLang="en-US" sz="2600"/>
              <a:t>2. Scope</a:t>
            </a:r>
            <a:endParaRPr lang="en-US" altLang="en-US" sz="2600"/>
          </a:p>
          <a:p>
            <a:pPr marL="342900" lvl="0" indent="-327660" algn="just" rtl="0">
              <a:lnSpc>
                <a:spcPct val="90000"/>
              </a:lnSpc>
              <a:spcBef>
                <a:spcPts val="1000"/>
              </a:spcBef>
              <a:spcAft>
                <a:spcPts val="0"/>
              </a:spcAft>
              <a:buSzPct val="168000"/>
              <a:buChar char="•"/>
            </a:pPr>
            <a:r>
              <a:rPr lang="en-US" altLang="en-US" sz="2300"/>
              <a:t>A mobile and web-based platform enabling donors to list surplus food, NGOs to manage pickups, and recipients to request support.</a:t>
            </a:r>
            <a:endParaRPr lang="en-US" altLang="en-US" sz="2300"/>
          </a:p>
          <a:p>
            <a:pPr marL="342900" lvl="0" indent="-327660" algn="just" rtl="0">
              <a:lnSpc>
                <a:spcPct val="90000"/>
              </a:lnSpc>
              <a:spcBef>
                <a:spcPts val="1000"/>
              </a:spcBef>
              <a:spcAft>
                <a:spcPts val="0"/>
              </a:spcAft>
              <a:buSzPct val="168000"/>
              <a:buChar char="•"/>
            </a:pPr>
            <a:r>
              <a:rPr lang="en-US" altLang="en-US" sz="2300"/>
              <a:t>The system uses AI for matching, route optimization, and demand forecasting.</a:t>
            </a:r>
            <a:endParaRPr lang="en-US" altLang="en-US" sz="2300"/>
          </a:p>
          <a:p>
            <a:pPr marL="342900" lvl="0" indent="-327660" algn="just" rtl="0">
              <a:lnSpc>
                <a:spcPct val="90000"/>
              </a:lnSpc>
              <a:spcBef>
                <a:spcPts val="1000"/>
              </a:spcBef>
              <a:spcAft>
                <a:spcPts val="0"/>
              </a:spcAft>
              <a:buSzPct val="168000"/>
              <a:buChar char="•"/>
            </a:pPr>
            <a:r>
              <a:rPr lang="en-US" altLang="en-US" sz="2300"/>
              <a:t>Includes real-time notifications, chat-based communication, live tracking, and automated verification.</a:t>
            </a:r>
            <a:endParaRPr lang="en-US" altLang="en-US" sz="2300"/>
          </a:p>
          <a:p>
            <a:pPr marL="342900" lvl="0" indent="-327660" algn="just" rtl="0">
              <a:lnSpc>
                <a:spcPct val="90000"/>
              </a:lnSpc>
              <a:spcBef>
                <a:spcPts val="1000"/>
              </a:spcBef>
              <a:spcAft>
                <a:spcPts val="0"/>
              </a:spcAft>
              <a:buSzPct val="168000"/>
              <a:buChar char="•"/>
            </a:pPr>
            <a:endParaRPr lang="en-US" altLang="en-US" sz="23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21"/>
          <p:cNvSpPr txBox="1"/>
          <p:nvPr>
            <p:ph type="title" idx="4294967295"/>
          </p:nvPr>
        </p:nvSpPr>
        <p:spPr>
          <a:xfrm>
            <a:off x="332105"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panose="020B0604020202020204"/>
              <a:buNone/>
            </a:pPr>
            <a:r>
              <a:rPr lang="en-US" altLang="en-US" sz="3335">
                <a:sym typeface="+mn-ea"/>
              </a:rPr>
              <a:t>SOFTWARE REQUIREMENT SPECIFICATION (SRS)</a:t>
            </a:r>
            <a:endParaRPr lang="en-US" sz="3335"/>
          </a:p>
        </p:txBody>
      </p:sp>
      <p:sp>
        <p:nvSpPr>
          <p:cNvPr id="139" name="Google Shape;139;p21"/>
          <p:cNvSpPr txBox="1"/>
          <p:nvPr>
            <p:ph type="body" idx="4294967295"/>
          </p:nvPr>
        </p:nvSpPr>
        <p:spPr>
          <a:xfrm>
            <a:off x="332105" y="1019810"/>
            <a:ext cx="8380095" cy="5628005"/>
          </a:xfrm>
          <a:prstGeom prst="rect">
            <a:avLst/>
          </a:prstGeom>
          <a:noFill/>
          <a:ln>
            <a:noFill/>
          </a:ln>
        </p:spPr>
        <p:txBody>
          <a:bodyPr spcFirstLastPara="1" wrap="square" lIns="91425" tIns="45700" rIns="91425" bIns="45700" anchor="t" anchorCtr="0">
            <a:noAutofit/>
          </a:bodyPr>
          <a:lstStyle/>
          <a:p>
            <a:pPr marL="15240" lvl="0" indent="0" algn="just" rtl="0">
              <a:lnSpc>
                <a:spcPct val="90000"/>
              </a:lnSpc>
              <a:spcBef>
                <a:spcPts val="1000"/>
              </a:spcBef>
              <a:spcAft>
                <a:spcPts val="0"/>
              </a:spcAft>
              <a:buSzPct val="168000"/>
              <a:buNone/>
            </a:pPr>
            <a:r>
              <a:rPr lang="en-US" altLang="en-US" sz="2600"/>
              <a:t>Functional Requirements -&gt;</a:t>
            </a:r>
            <a:endParaRPr lang="en-US" altLang="en-US" sz="2600"/>
          </a:p>
          <a:p>
            <a:pPr marL="358140" lvl="0" indent="-342900" algn="just" rtl="0">
              <a:lnSpc>
                <a:spcPct val="90000"/>
              </a:lnSpc>
              <a:spcBef>
                <a:spcPts val="1000"/>
              </a:spcBef>
              <a:spcAft>
                <a:spcPts val="0"/>
              </a:spcAft>
              <a:buSzPct val="168000"/>
            </a:pPr>
            <a:r>
              <a:rPr lang="en-US" altLang="en-US" sz="2400"/>
              <a:t>User Registration : Secure login/signup for donors, NGOs, volunteers, and recipients.</a:t>
            </a:r>
            <a:endParaRPr lang="en-US" altLang="en-US" sz="2400"/>
          </a:p>
          <a:p>
            <a:pPr marL="358140" lvl="0" indent="-342900" algn="just" rtl="0">
              <a:lnSpc>
                <a:spcPct val="90000"/>
              </a:lnSpc>
              <a:spcBef>
                <a:spcPts val="1000"/>
              </a:spcBef>
              <a:spcAft>
                <a:spcPts val="0"/>
              </a:spcAft>
              <a:buSzPct val="168000"/>
            </a:pPr>
            <a:r>
              <a:rPr lang="en-US" altLang="en-US" sz="2400"/>
              <a:t>Food Listing : Donors upload surplus food details with images and expiry time.</a:t>
            </a:r>
            <a:endParaRPr lang="en-US" altLang="en-US" sz="2400"/>
          </a:p>
          <a:p>
            <a:pPr marL="358140" lvl="0" indent="-342900" algn="just" rtl="0">
              <a:lnSpc>
                <a:spcPct val="90000"/>
              </a:lnSpc>
              <a:spcBef>
                <a:spcPts val="1000"/>
              </a:spcBef>
              <a:spcAft>
                <a:spcPts val="0"/>
              </a:spcAft>
              <a:buSzPct val="168000"/>
            </a:pPr>
            <a:r>
              <a:rPr lang="en-US" altLang="en-US" sz="2400"/>
              <a:t>AI Matching : Match food donations with nearest NGOs/recipients using ML + location data.</a:t>
            </a:r>
            <a:endParaRPr lang="en-US" altLang="en-US" sz="2400"/>
          </a:p>
          <a:p>
            <a:pPr marL="358140" lvl="0" indent="-342900" algn="just" rtl="0">
              <a:lnSpc>
                <a:spcPct val="90000"/>
              </a:lnSpc>
              <a:spcBef>
                <a:spcPts val="1000"/>
              </a:spcBef>
              <a:spcAft>
                <a:spcPts val="0"/>
              </a:spcAft>
              <a:buSzPct val="168000"/>
            </a:pPr>
            <a:r>
              <a:rPr lang="en-US" altLang="en-US" sz="2400"/>
              <a:t>Real-Time Notifications : Instant alerts for new donations, pickups, and deliveries.</a:t>
            </a:r>
            <a:endParaRPr lang="en-US" altLang="en-US" sz="2400"/>
          </a:p>
          <a:p>
            <a:pPr marL="358140" lvl="0" indent="-342900" algn="just" rtl="0">
              <a:lnSpc>
                <a:spcPct val="90000"/>
              </a:lnSpc>
              <a:spcBef>
                <a:spcPts val="1000"/>
              </a:spcBef>
              <a:spcAft>
                <a:spcPts val="0"/>
              </a:spcAft>
              <a:buSzPct val="168000"/>
            </a:pPr>
            <a:r>
              <a:rPr lang="en-US" altLang="en-US" sz="2400">
                <a:sym typeface="+mn-ea"/>
              </a:rPr>
              <a:t>In-App Chat </a:t>
            </a:r>
            <a:r>
              <a:rPr lang="en-US" altLang="en-US" sz="2400" b="1">
                <a:sym typeface="+mn-ea"/>
              </a:rPr>
              <a:t>: </a:t>
            </a:r>
            <a:r>
              <a:rPr lang="en-US" altLang="en-US" sz="2400"/>
              <a:t>Real-time chat for coordination between donors, NGOs, and volunteers.</a:t>
            </a:r>
            <a:endParaRPr lang="en-US" altLang="en-US" sz="2400"/>
          </a:p>
          <a:p>
            <a:pPr marL="358140" lvl="0" indent="-342900" algn="just" rtl="0">
              <a:lnSpc>
                <a:spcPct val="90000"/>
              </a:lnSpc>
              <a:spcBef>
                <a:spcPts val="1000"/>
              </a:spcBef>
              <a:spcAft>
                <a:spcPts val="0"/>
              </a:spcAft>
              <a:buSzPct val="168000"/>
            </a:pPr>
            <a:r>
              <a:rPr lang="en-US" altLang="en-US" sz="2400"/>
              <a:t>Sustainability Insights : Display CO₂ savings and food wastage reduction metrics.</a:t>
            </a:r>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21"/>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panose="020B0604020202020204"/>
              <a:buNone/>
            </a:pPr>
            <a:r>
              <a:rPr lang="en-US" altLang="en-US" sz="3335">
                <a:sym typeface="+mn-ea"/>
              </a:rPr>
              <a:t>SOFTWARE REQUIREMENT SPECIFICATION (SRS)</a:t>
            </a:r>
            <a:endParaRPr lang="en-US" sz="3335"/>
          </a:p>
        </p:txBody>
      </p:sp>
      <p:sp>
        <p:nvSpPr>
          <p:cNvPr id="139" name="Google Shape;139;p21"/>
          <p:cNvSpPr txBox="1"/>
          <p:nvPr>
            <p:ph type="body" idx="4294967295"/>
          </p:nvPr>
        </p:nvSpPr>
        <p:spPr>
          <a:xfrm>
            <a:off x="374015" y="914400"/>
            <a:ext cx="8312785" cy="543941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Clr>
                <a:schemeClr val="dk1"/>
              </a:buClr>
              <a:buSzPct val="125000"/>
              <a:buNone/>
            </a:pPr>
            <a:r>
              <a:rPr lang="en-US" altLang="en-US" sz="2600">
                <a:sym typeface="+mn-ea"/>
              </a:rPr>
              <a:t>Non-Functional Requirements -&gt;</a:t>
            </a:r>
            <a:endParaRPr lang="en-US" altLang="en-US" sz="2600"/>
          </a:p>
          <a:p>
            <a:pPr lvl="0" indent="-457200" algn="l" rtl="0">
              <a:lnSpc>
                <a:spcPct val="110000"/>
              </a:lnSpc>
              <a:spcBef>
                <a:spcPts val="0"/>
              </a:spcBef>
              <a:spcAft>
                <a:spcPts val="0"/>
              </a:spcAft>
              <a:buClr>
                <a:schemeClr val="dk1"/>
              </a:buClr>
              <a:buSzPct val="125000"/>
            </a:pPr>
            <a:r>
              <a:rPr lang="en-US" altLang="en-US" sz="2400">
                <a:sym typeface="+mn-ea"/>
              </a:rPr>
              <a:t>Performance : Fast AI matching and real-time updates with low latency.</a:t>
            </a:r>
            <a:endParaRPr lang="en-US" altLang="en-US" sz="2400"/>
          </a:p>
          <a:p>
            <a:pPr lvl="0" indent="-457200" algn="l" rtl="0">
              <a:lnSpc>
                <a:spcPct val="110000"/>
              </a:lnSpc>
              <a:spcBef>
                <a:spcPts val="0"/>
              </a:spcBef>
              <a:spcAft>
                <a:spcPts val="0"/>
              </a:spcAft>
              <a:buClr>
                <a:schemeClr val="dk1"/>
              </a:buClr>
              <a:buSzPct val="125000"/>
            </a:pPr>
            <a:r>
              <a:rPr lang="en-US" altLang="en-US" sz="2400">
                <a:sym typeface="+mn-ea"/>
              </a:rPr>
              <a:t>Security : Encrypted data, secure authentication, and protected user information.</a:t>
            </a:r>
            <a:endParaRPr lang="en-US" altLang="en-US" sz="2400"/>
          </a:p>
          <a:p>
            <a:pPr lvl="0" indent="-457200" algn="l" rtl="0">
              <a:lnSpc>
                <a:spcPct val="110000"/>
              </a:lnSpc>
              <a:spcBef>
                <a:spcPts val="0"/>
              </a:spcBef>
              <a:spcAft>
                <a:spcPts val="0"/>
              </a:spcAft>
              <a:buClr>
                <a:schemeClr val="dk1"/>
              </a:buClr>
              <a:buSzPct val="125000"/>
            </a:pPr>
            <a:r>
              <a:rPr lang="en-US" altLang="en-US" sz="2400">
                <a:sym typeface="+mn-ea"/>
              </a:rPr>
              <a:t>Usability : Simple, intuitive UI for all user groups with minimal steps.</a:t>
            </a:r>
            <a:endParaRPr lang="en-US" altLang="en-US" sz="2400"/>
          </a:p>
          <a:p>
            <a:pPr lvl="0" indent="-457200" algn="l" rtl="0">
              <a:lnSpc>
                <a:spcPct val="110000"/>
              </a:lnSpc>
              <a:spcBef>
                <a:spcPts val="0"/>
              </a:spcBef>
              <a:spcAft>
                <a:spcPts val="0"/>
              </a:spcAft>
              <a:buClr>
                <a:schemeClr val="dk1"/>
              </a:buClr>
              <a:buSzPct val="125000"/>
            </a:pPr>
            <a:r>
              <a:rPr lang="en-US" altLang="en-US" sz="2400">
                <a:sym typeface="+mn-ea"/>
              </a:rPr>
              <a:t>Scalability : Supports increasing users, data, and locations across regions.</a:t>
            </a:r>
            <a:endParaRPr lang="en-US" altLang="en-US" sz="2400"/>
          </a:p>
          <a:p>
            <a:pPr lvl="0" indent="-457200" algn="l" rtl="0">
              <a:lnSpc>
                <a:spcPct val="110000"/>
              </a:lnSpc>
              <a:spcBef>
                <a:spcPts val="0"/>
              </a:spcBef>
              <a:spcAft>
                <a:spcPts val="0"/>
              </a:spcAft>
              <a:buClr>
                <a:schemeClr val="dk1"/>
              </a:buClr>
              <a:buSzPct val="125000"/>
            </a:pPr>
            <a:r>
              <a:rPr lang="en-US" altLang="en-US" sz="2400">
                <a:sym typeface="+mn-ea"/>
              </a:rPr>
              <a:t>Compatibility : Works on Android,  and all modern web browsers.</a:t>
            </a:r>
            <a:endParaRPr lang="en-US" altLang="en-US" sz="2400"/>
          </a:p>
          <a:p>
            <a:pPr lvl="0" indent="-457200" algn="l" rtl="0">
              <a:lnSpc>
                <a:spcPct val="110000"/>
              </a:lnSpc>
              <a:spcBef>
                <a:spcPts val="0"/>
              </a:spcBef>
              <a:spcAft>
                <a:spcPts val="0"/>
              </a:spcAft>
              <a:buClr>
                <a:schemeClr val="dk1"/>
              </a:buClr>
              <a:buSzPct val="125000"/>
            </a:pPr>
            <a:r>
              <a:rPr lang="en-US" altLang="en-US" sz="2400">
                <a:sym typeface="+mn-ea"/>
              </a:rPr>
              <a:t>Maintainability : Easy to update and improve features over time.</a:t>
            </a:r>
            <a:endParaRPr lang="en-US" altLang="en-US" sz="2400"/>
          </a:p>
          <a:p>
            <a:pPr lvl="0" indent="-457200" algn="l" rtl="0">
              <a:lnSpc>
                <a:spcPct val="100000"/>
              </a:lnSpc>
              <a:spcBef>
                <a:spcPts val="0"/>
              </a:spcBef>
              <a:spcAft>
                <a:spcPts val="0"/>
              </a:spcAft>
              <a:buClr>
                <a:schemeClr val="dk1"/>
              </a:buClr>
              <a:buSzPct val="125000"/>
            </a:pPr>
            <a:endParaRPr lang="en-US" altLang="en-US" sz="2500"/>
          </a:p>
          <a:p>
            <a:pPr marL="15240" lvl="0" indent="0" algn="just" rtl="0">
              <a:lnSpc>
                <a:spcPct val="90000"/>
              </a:lnSpc>
              <a:spcBef>
                <a:spcPts val="1000"/>
              </a:spcBef>
              <a:spcAft>
                <a:spcPts val="0"/>
              </a:spcAft>
              <a:buSzPct val="168000"/>
              <a:buNone/>
            </a:pPr>
            <a:r>
              <a:rPr lang="en-US" altLang="en-US" sz="2300"/>
              <a:t>.</a:t>
            </a:r>
            <a:endParaRPr lang="en-US" altLang="en-US" sz="2300"/>
          </a:p>
          <a:p>
            <a:pPr marL="342900" lvl="0" indent="-327660" algn="just" rtl="0">
              <a:lnSpc>
                <a:spcPct val="90000"/>
              </a:lnSpc>
              <a:spcBef>
                <a:spcPts val="1000"/>
              </a:spcBef>
              <a:spcAft>
                <a:spcPts val="0"/>
              </a:spcAft>
              <a:buSzPct val="168000"/>
              <a:buChar char="•"/>
            </a:pPr>
            <a:endParaRPr lang="en-US" altLang="en-US" sz="23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22"/>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panose="020B0604020202020204"/>
              <a:buNone/>
            </a:pPr>
            <a:r>
              <a:rPr lang="en-US" altLang="en-US" sz="4000">
                <a:sym typeface="+mn-ea"/>
              </a:rPr>
              <a:t>SYSTEM ARCHITECTURE </a:t>
            </a:r>
            <a:endParaRPr lang="en-US" sz="4000"/>
          </a:p>
        </p:txBody>
      </p:sp>
      <p:sp>
        <p:nvSpPr>
          <p:cNvPr id="145" name="Google Shape;145;p22"/>
          <p:cNvSpPr txBox="1"/>
          <p:nvPr>
            <p:ph type="body" idx="4294967295"/>
          </p:nvPr>
        </p:nvSpPr>
        <p:spPr>
          <a:xfrm>
            <a:off x="392430" y="1029335"/>
            <a:ext cx="8446770" cy="521906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3200"/>
              <a:buChar char="•"/>
            </a:pPr>
            <a:r>
              <a:rPr lang="en-US" sz="2600"/>
              <a:t>Architecture Diagram</a:t>
            </a:r>
            <a:endParaRPr lang="en-US" sz="2400"/>
          </a:p>
          <a:p>
            <a:pPr marL="342900" lvl="0" indent="-342900" algn="l" rtl="0">
              <a:spcBef>
                <a:spcPts val="0"/>
              </a:spcBef>
              <a:spcAft>
                <a:spcPts val="0"/>
              </a:spcAft>
              <a:buSzPts val="3200"/>
              <a:buChar char="•"/>
            </a:pPr>
            <a:endParaRPr lang="en-US" sz="2400"/>
          </a:p>
          <a:p>
            <a:pPr marL="342900" lvl="0" indent="-342900" algn="l" rtl="0">
              <a:spcBef>
                <a:spcPts val="0"/>
              </a:spcBef>
              <a:spcAft>
                <a:spcPts val="0"/>
              </a:spcAft>
              <a:buSzPts val="3200"/>
              <a:buChar char="•"/>
            </a:pPr>
            <a:endParaRPr lang="en-US" sz="2400"/>
          </a:p>
        </p:txBody>
      </p:sp>
      <p:pic>
        <p:nvPicPr>
          <p:cNvPr id="2" name="Picture 1" descr="foodloop_architecture_compact"/>
          <p:cNvPicPr>
            <a:picLocks noChangeAspect="1"/>
          </p:cNvPicPr>
          <p:nvPr/>
        </p:nvPicPr>
        <p:blipFill>
          <a:blip r:embed="rId1"/>
          <a:stretch>
            <a:fillRect/>
          </a:stretch>
        </p:blipFill>
        <p:spPr>
          <a:xfrm>
            <a:off x="456565" y="1637030"/>
            <a:ext cx="8229600" cy="4889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5" name="Shape 155"/>
        <p:cNvGrpSpPr/>
        <p:nvPr/>
      </p:nvGrpSpPr>
      <p:grpSpPr>
        <a:xfrm>
          <a:off x="0" y="0"/>
          <a:ext cx="0" cy="0"/>
          <a:chOff x="0" y="0"/>
          <a:chExt cx="0" cy="0"/>
        </a:xfrm>
      </p:grpSpPr>
      <p:sp>
        <p:nvSpPr>
          <p:cNvPr id="156" name="Google Shape;156;p24"/>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panose="020B0604020202020204"/>
              <a:buNone/>
            </a:pPr>
            <a:r>
              <a:rPr lang="en-US" sz="4000"/>
              <a:t>Use Case Diagram</a:t>
            </a:r>
            <a:endParaRPr lang="en-US" sz="4000"/>
          </a:p>
        </p:txBody>
      </p:sp>
      <p:pic>
        <p:nvPicPr>
          <p:cNvPr id="2" name="Picture 1" descr="foodloop_usecase"/>
          <p:cNvPicPr>
            <a:picLocks noChangeAspect="1"/>
          </p:cNvPicPr>
          <p:nvPr/>
        </p:nvPicPr>
        <p:blipFill>
          <a:blip r:embed="rId1"/>
          <a:srcRect t="6414"/>
          <a:stretch>
            <a:fillRect/>
          </a:stretch>
        </p:blipFill>
        <p:spPr>
          <a:xfrm>
            <a:off x="2121535" y="1776730"/>
            <a:ext cx="4010660" cy="4357370"/>
          </a:xfrm>
          <a:prstGeom prst="rect">
            <a:avLst/>
          </a:prstGeom>
        </p:spPr>
      </p:pic>
      <p:sp>
        <p:nvSpPr>
          <p:cNvPr id="3" name="Text Box 2"/>
          <p:cNvSpPr txBox="1"/>
          <p:nvPr/>
        </p:nvSpPr>
        <p:spPr>
          <a:xfrm>
            <a:off x="389255" y="1147445"/>
            <a:ext cx="3665855" cy="483235"/>
          </a:xfrm>
          <a:prstGeom prst="rect">
            <a:avLst/>
          </a:prstGeom>
          <a:noFill/>
        </p:spPr>
        <p:txBody>
          <a:bodyPr wrap="square" rtlCol="0">
            <a:noAutofit/>
          </a:bodyPr>
          <a:p>
            <a:r>
              <a:rPr lang="en-US" sz="2400"/>
              <a:t>Use case Diagram :</a:t>
            </a:r>
            <a:endParaRPr 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25"/>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panose="020B0604020202020204"/>
              <a:buNone/>
            </a:pPr>
            <a:r>
              <a:rPr lang="en-US" sz="4000"/>
              <a:t>ER- Diagram</a:t>
            </a:r>
            <a:endParaRPr lang="en-US" sz="4000"/>
          </a:p>
        </p:txBody>
      </p:sp>
      <p:pic>
        <p:nvPicPr>
          <p:cNvPr id="2" name="Picture 1" descr="foodloop_er"/>
          <p:cNvPicPr>
            <a:picLocks noChangeAspect="1"/>
          </p:cNvPicPr>
          <p:nvPr/>
        </p:nvPicPr>
        <p:blipFill>
          <a:blip r:embed="rId1"/>
          <a:srcRect t="7605"/>
          <a:stretch>
            <a:fillRect/>
          </a:stretch>
        </p:blipFill>
        <p:spPr>
          <a:xfrm>
            <a:off x="457200" y="1562100"/>
            <a:ext cx="8229600" cy="4739640"/>
          </a:xfrm>
          <a:prstGeom prst="rect">
            <a:avLst/>
          </a:prstGeom>
        </p:spPr>
      </p:pic>
      <p:sp>
        <p:nvSpPr>
          <p:cNvPr id="3" name="Text Box 2"/>
          <p:cNvSpPr txBox="1"/>
          <p:nvPr/>
        </p:nvSpPr>
        <p:spPr>
          <a:xfrm>
            <a:off x="457200" y="1012825"/>
            <a:ext cx="3420110" cy="373380"/>
          </a:xfrm>
          <a:prstGeom prst="rect">
            <a:avLst/>
          </a:prstGeom>
          <a:noFill/>
        </p:spPr>
        <p:txBody>
          <a:bodyPr wrap="square" rtlCol="0">
            <a:noAutofit/>
          </a:bodyPr>
          <a:p>
            <a:r>
              <a:rPr lang="en-US" sz="2400"/>
              <a:t>ER Diagram :</a:t>
            </a:r>
            <a:endParaRPr 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83" name="Shape 183"/>
        <p:cNvGrpSpPr/>
        <p:nvPr/>
      </p:nvGrpSpPr>
      <p:grpSpPr>
        <a:xfrm>
          <a:off x="0" y="0"/>
          <a:ext cx="0" cy="0"/>
          <a:chOff x="0" y="0"/>
          <a:chExt cx="0" cy="0"/>
        </a:xfrm>
      </p:grpSpPr>
      <p:sp>
        <p:nvSpPr>
          <p:cNvPr id="184" name="Google Shape;184;p28"/>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panose="020B0604020202020204"/>
              <a:buNone/>
            </a:pPr>
            <a:r>
              <a:rPr lang="en-US" sz="4000"/>
              <a:t>Sequence</a:t>
            </a:r>
            <a:r>
              <a:rPr lang="en-US" sz="4000"/>
              <a:t> Diagram </a:t>
            </a:r>
            <a:endParaRPr lang="en-US" sz="4000"/>
          </a:p>
        </p:txBody>
      </p:sp>
      <p:pic>
        <p:nvPicPr>
          <p:cNvPr id="2" name="Picture 1" descr="foodloop_sequence"/>
          <p:cNvPicPr>
            <a:picLocks noChangeAspect="1"/>
          </p:cNvPicPr>
          <p:nvPr/>
        </p:nvPicPr>
        <p:blipFill>
          <a:blip r:embed="rId1"/>
          <a:srcRect t="16937"/>
          <a:stretch>
            <a:fillRect/>
          </a:stretch>
        </p:blipFill>
        <p:spPr>
          <a:xfrm>
            <a:off x="457200" y="1870710"/>
            <a:ext cx="8229600" cy="4325620"/>
          </a:xfrm>
          <a:prstGeom prst="rect">
            <a:avLst/>
          </a:prstGeom>
        </p:spPr>
      </p:pic>
      <p:sp>
        <p:nvSpPr>
          <p:cNvPr id="3" name="Text Box 2"/>
          <p:cNvSpPr txBox="1"/>
          <p:nvPr/>
        </p:nvSpPr>
        <p:spPr>
          <a:xfrm>
            <a:off x="370840" y="1167130"/>
            <a:ext cx="5831205" cy="373380"/>
          </a:xfrm>
          <a:prstGeom prst="rect">
            <a:avLst/>
          </a:prstGeom>
          <a:noFill/>
        </p:spPr>
        <p:txBody>
          <a:bodyPr wrap="square" rtlCol="0">
            <a:noAutofit/>
          </a:bodyPr>
          <a:p>
            <a:r>
              <a:rPr lang="en-US" sz="2400"/>
              <a:t>Sequence diagram - Matching process :</a:t>
            </a:r>
            <a:endParaRPr 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89" name="Shape 189"/>
        <p:cNvGrpSpPr/>
        <p:nvPr/>
      </p:nvGrpSpPr>
      <p:grpSpPr>
        <a:xfrm>
          <a:off x="0" y="0"/>
          <a:ext cx="0" cy="0"/>
          <a:chOff x="0" y="0"/>
          <a:chExt cx="0" cy="0"/>
        </a:xfrm>
      </p:grpSpPr>
      <p:sp>
        <p:nvSpPr>
          <p:cNvPr id="190" name="Google Shape;190;p29"/>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Font typeface="Arial" panose="020B0604020202020204"/>
              <a:buNone/>
            </a:pPr>
            <a:r>
              <a:rPr lang="en-US" sz="4000"/>
              <a:t>Class Diagram</a:t>
            </a:r>
            <a:endParaRPr lang="en-US" sz="4000"/>
          </a:p>
        </p:txBody>
      </p:sp>
      <p:pic>
        <p:nvPicPr>
          <p:cNvPr id="2" name="Picture 1" descr="foodloop_class"/>
          <p:cNvPicPr>
            <a:picLocks noChangeAspect="1"/>
          </p:cNvPicPr>
          <p:nvPr/>
        </p:nvPicPr>
        <p:blipFill>
          <a:blip r:embed="rId1"/>
          <a:srcRect t="6650"/>
          <a:stretch>
            <a:fillRect/>
          </a:stretch>
        </p:blipFill>
        <p:spPr>
          <a:xfrm>
            <a:off x="457200" y="1551940"/>
            <a:ext cx="8229600" cy="4693285"/>
          </a:xfrm>
          <a:prstGeom prst="rect">
            <a:avLst/>
          </a:prstGeom>
        </p:spPr>
      </p:pic>
      <p:sp>
        <p:nvSpPr>
          <p:cNvPr id="3" name="Text Box 2"/>
          <p:cNvSpPr txBox="1"/>
          <p:nvPr/>
        </p:nvSpPr>
        <p:spPr>
          <a:xfrm>
            <a:off x="361315" y="1108075"/>
            <a:ext cx="3361690" cy="384175"/>
          </a:xfrm>
          <a:prstGeom prst="rect">
            <a:avLst/>
          </a:prstGeom>
          <a:noFill/>
        </p:spPr>
        <p:txBody>
          <a:bodyPr wrap="square" rtlCol="0">
            <a:noAutofit/>
          </a:bodyPr>
          <a:p>
            <a:r>
              <a:rPr lang="en-US" sz="2400"/>
              <a:t>Class Diagram :</a:t>
            </a:r>
            <a:endParaRPr 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sp>
        <p:nvSpPr>
          <p:cNvPr id="204" name="Google Shape;204;p31"/>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Algorithms used</a:t>
            </a:r>
            <a:endParaRPr lang="en-US"/>
          </a:p>
        </p:txBody>
      </p:sp>
      <p:sp>
        <p:nvSpPr>
          <p:cNvPr id="205" name="Google Shape;205;p31"/>
          <p:cNvSpPr txBox="1"/>
          <p:nvPr>
            <p:ph type="body" idx="4294967295"/>
          </p:nvPr>
        </p:nvSpPr>
        <p:spPr>
          <a:xfrm>
            <a:off x="457200" y="981075"/>
            <a:ext cx="8382000" cy="554101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3200"/>
              <a:buNone/>
            </a:pPr>
            <a:r>
              <a:rPr lang="en-US" altLang="en-US" sz="2600"/>
              <a:t>AI Matching Algorithm:</a:t>
            </a:r>
            <a:endParaRPr lang="en-US" altLang="en-US" sz="2600"/>
          </a:p>
          <a:p>
            <a:pPr marL="342900" lvl="0" indent="-342900" algn="l" rtl="0">
              <a:spcBef>
                <a:spcPts val="0"/>
              </a:spcBef>
              <a:spcAft>
                <a:spcPts val="0"/>
              </a:spcAft>
              <a:buSzPts val="3200"/>
              <a:buChar char="•"/>
            </a:pPr>
            <a:r>
              <a:rPr lang="en-US" altLang="en-US" sz="2000"/>
              <a:t>Used to match surplus food with the nearest NGO or recipient.</a:t>
            </a:r>
            <a:endParaRPr lang="en-US" altLang="en-US" sz="2000"/>
          </a:p>
          <a:p>
            <a:pPr marL="342900" lvl="0" indent="-342900" algn="l" rtl="0">
              <a:spcBef>
                <a:spcPts val="0"/>
              </a:spcBef>
              <a:spcAft>
                <a:spcPts val="0"/>
              </a:spcAft>
              <a:buSzPts val="3200"/>
              <a:buChar char="•"/>
            </a:pPr>
            <a:r>
              <a:rPr lang="en-US" altLang="en-US" sz="2000"/>
              <a:t>Performs smart allocation using distance, urgency, and food quantity.</a:t>
            </a:r>
            <a:endParaRPr lang="en-US" altLang="en-US" sz="2000"/>
          </a:p>
          <a:p>
            <a:pPr marL="342900" lvl="0" indent="-342900" algn="l" rtl="0">
              <a:spcBef>
                <a:spcPts val="0"/>
              </a:spcBef>
              <a:spcAft>
                <a:spcPts val="0"/>
              </a:spcAft>
              <a:buSzPts val="3200"/>
              <a:buChar char="•"/>
            </a:pPr>
            <a:r>
              <a:rPr lang="en-US" altLang="en-US" sz="2000"/>
              <a:t>Provides fast and accurate matching without increasing processing load.</a:t>
            </a:r>
            <a:endParaRPr lang="en-US" altLang="en-US" sz="2000"/>
          </a:p>
          <a:p>
            <a:pPr marL="342900" lvl="0" indent="-342900" algn="l" rtl="0">
              <a:spcBef>
                <a:spcPts val="0"/>
              </a:spcBef>
              <a:spcAft>
                <a:spcPts val="0"/>
              </a:spcAft>
              <a:buSzPts val="3200"/>
              <a:buChar char="•"/>
            </a:pPr>
            <a:r>
              <a:rPr lang="en-US" altLang="en-US" sz="2000"/>
              <a:t>Improves distribution efficiency through optimized machine learning logic.</a:t>
            </a:r>
            <a:endParaRPr lang="en-US" altLang="en-US" sz="2000"/>
          </a:p>
          <a:p>
            <a:pPr marL="342900" lvl="0" indent="-342900" algn="l" rtl="0">
              <a:spcBef>
                <a:spcPts val="0"/>
              </a:spcBef>
              <a:spcAft>
                <a:spcPts val="0"/>
              </a:spcAft>
              <a:buSzPts val="3200"/>
              <a:buChar char="•"/>
            </a:pPr>
            <a:endParaRPr lang="en-US" altLang="en-US" sz="2000"/>
          </a:p>
          <a:p>
            <a:pPr marL="0" lvl="0" indent="0" algn="l" rtl="0">
              <a:spcBef>
                <a:spcPts val="0"/>
              </a:spcBef>
              <a:spcAft>
                <a:spcPts val="0"/>
              </a:spcAft>
              <a:buSzPts val="3200"/>
              <a:buNone/>
            </a:pPr>
            <a:r>
              <a:rPr lang="en-US" altLang="en-US" sz="2600"/>
              <a:t>Demand Forecasting Algorithm:</a:t>
            </a:r>
            <a:endParaRPr lang="en-US" altLang="en-US" sz="2600"/>
          </a:p>
          <a:p>
            <a:pPr marL="342900" lvl="0" indent="-342900" algn="l" rtl="0">
              <a:spcBef>
                <a:spcPts val="0"/>
              </a:spcBef>
              <a:spcAft>
                <a:spcPts val="0"/>
              </a:spcAft>
              <a:buSzPts val="3200"/>
              <a:buChar char="•"/>
            </a:pPr>
            <a:r>
              <a:rPr lang="en-US" altLang="en-US" sz="2000"/>
              <a:t>Used to predict future food demand in different local areas.</a:t>
            </a:r>
            <a:endParaRPr lang="en-US" altLang="en-US" sz="2000"/>
          </a:p>
          <a:p>
            <a:pPr marL="342900" lvl="0" indent="-342900" algn="l" rtl="0">
              <a:spcBef>
                <a:spcPts val="0"/>
              </a:spcBef>
              <a:spcAft>
                <a:spcPts val="0"/>
              </a:spcAft>
              <a:buSzPts val="3200"/>
              <a:buChar char="•"/>
            </a:pPr>
            <a:r>
              <a:rPr lang="en-US" altLang="en-US" sz="2000"/>
              <a:t>Provides better planning by analyzing past donation and request data.</a:t>
            </a:r>
            <a:endParaRPr lang="en-US" altLang="en-US" sz="2000"/>
          </a:p>
          <a:p>
            <a:pPr marL="342900" lvl="0" indent="-342900" algn="l" rtl="0">
              <a:spcBef>
                <a:spcPts val="0"/>
              </a:spcBef>
              <a:spcAft>
                <a:spcPts val="0"/>
              </a:spcAft>
              <a:buSzPts val="3200"/>
              <a:buChar char="•"/>
            </a:pPr>
            <a:r>
              <a:rPr lang="en-US" altLang="en-US" sz="2000"/>
              <a:t>Improves forecasting accuracy and community support efficiency.</a:t>
            </a:r>
            <a:endParaRPr lang="en-US" altLang="en-US" sz="2000"/>
          </a:p>
          <a:p>
            <a:pPr marL="342900" lvl="0" indent="-342900" algn="l" rtl="0">
              <a:spcBef>
                <a:spcPts val="0"/>
              </a:spcBef>
              <a:spcAft>
                <a:spcPts val="0"/>
              </a:spcAft>
              <a:buSzPts val="3200"/>
              <a:buChar char="•"/>
            </a:pPr>
            <a:endParaRPr lang="en-US" altLang="en-US" sz="2000"/>
          </a:p>
          <a:p>
            <a:pPr marL="0" lvl="0" indent="0" algn="l" rtl="0">
              <a:spcBef>
                <a:spcPts val="0"/>
              </a:spcBef>
              <a:spcAft>
                <a:spcPts val="0"/>
              </a:spcAft>
              <a:buSzPts val="3200"/>
              <a:buNone/>
            </a:pPr>
            <a:r>
              <a:rPr lang="en-US" altLang="en-US" sz="2600"/>
              <a:t>Fraud Detection Algorithm:</a:t>
            </a:r>
            <a:endParaRPr lang="en-US" altLang="en-US" sz="2600"/>
          </a:p>
          <a:p>
            <a:pPr marL="342900" lvl="0" indent="-342900" algn="l" rtl="0">
              <a:spcBef>
                <a:spcPts val="0"/>
              </a:spcBef>
              <a:spcAft>
                <a:spcPts val="0"/>
              </a:spcAft>
              <a:buSzPts val="3200"/>
              <a:buChar char="•"/>
            </a:pPr>
            <a:r>
              <a:rPr lang="en-US" altLang="en-US" sz="2000"/>
              <a:t>Used to verify genuine listings and detect unusual or fake activity.</a:t>
            </a:r>
            <a:endParaRPr lang="en-US" altLang="en-US" sz="2000"/>
          </a:p>
          <a:p>
            <a:pPr marL="342900" lvl="0" indent="-342900" algn="l" rtl="0">
              <a:spcBef>
                <a:spcPts val="0"/>
              </a:spcBef>
              <a:spcAft>
                <a:spcPts val="0"/>
              </a:spcAft>
              <a:buSzPts val="3200"/>
              <a:buChar char="•"/>
            </a:pPr>
            <a:r>
              <a:rPr lang="en-US" altLang="en-US" sz="2000"/>
              <a:t>Provides secure operations through pattern analysis and proof validation.</a:t>
            </a:r>
            <a:endParaRPr lang="en-US" altLang="en-US" sz="2000"/>
          </a:p>
          <a:p>
            <a:pPr marL="342900" lvl="0" indent="-342900" algn="l" rtl="0">
              <a:spcBef>
                <a:spcPts val="0"/>
              </a:spcBef>
              <a:spcAft>
                <a:spcPts val="0"/>
              </a:spcAft>
              <a:buSzPts val="3200"/>
              <a:buChar char="•"/>
            </a:pPr>
            <a:r>
              <a:rPr lang="en-US" altLang="en-US" sz="2000"/>
              <a:t>Improves trust and transparency without increasing system overhead.</a:t>
            </a:r>
            <a:endParaRPr lang="en-US" alt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09" name="Shape 209"/>
        <p:cNvGrpSpPr/>
        <p:nvPr/>
      </p:nvGrpSpPr>
      <p:grpSpPr>
        <a:xfrm>
          <a:off x="0" y="0"/>
          <a:ext cx="0" cy="0"/>
          <a:chOff x="0" y="0"/>
          <a:chExt cx="0" cy="0"/>
        </a:xfrm>
      </p:grpSpPr>
      <p:sp>
        <p:nvSpPr>
          <p:cNvPr id="210" name="Google Shape;210;p32"/>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Algorithms used</a:t>
            </a:r>
            <a:endParaRPr lang="en-US"/>
          </a:p>
        </p:txBody>
      </p:sp>
      <p:sp>
        <p:nvSpPr>
          <p:cNvPr id="211" name="Google Shape;211;p32"/>
          <p:cNvSpPr txBox="1"/>
          <p:nvPr>
            <p:ph type="body" idx="4294967295"/>
          </p:nvPr>
        </p:nvSpPr>
        <p:spPr>
          <a:xfrm>
            <a:off x="372745" y="914400"/>
            <a:ext cx="8314690" cy="5334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SzPts val="3200"/>
              <a:buNone/>
            </a:pPr>
            <a:r>
              <a:rPr lang="en-US" altLang="en-US" sz="2600"/>
              <a:t>AI-Based Smart Matching Algorithm:</a:t>
            </a:r>
            <a:endParaRPr lang="en-US" altLang="en-US" sz="2600"/>
          </a:p>
          <a:p>
            <a:pPr marL="342900" lvl="0" indent="-342900" algn="l" rtl="0">
              <a:spcBef>
                <a:spcPts val="0"/>
              </a:spcBef>
              <a:spcAft>
                <a:spcPts val="0"/>
              </a:spcAft>
              <a:buSzPts val="3200"/>
              <a:buChar char="•"/>
            </a:pPr>
            <a:r>
              <a:rPr lang="en-US" altLang="en-US" sz="2200"/>
              <a:t>A K-Nearest Neighbors (KNN) based Smart Matching Algorithm for optimally connecting surplus food with the most suitable nearby NGOs and recipients. The model compares each new food listing with past successful matches by analyzing donor-side information (food type, quantity, freshness, time of listing) and recipient-side needs (location, urgency, demand pattern). Hence, it is expected to give better matching performance than simple rule-based or manual decision methods.</a:t>
            </a:r>
            <a:endParaRPr lang="en-US" altLang="en-US" sz="2200"/>
          </a:p>
          <a:p>
            <a:pPr marL="342900" lvl="0" indent="-342900" algn="l" rtl="0">
              <a:spcBef>
                <a:spcPts val="0"/>
              </a:spcBef>
              <a:spcAft>
                <a:spcPts val="0"/>
              </a:spcAft>
              <a:buSzPts val="3200"/>
              <a:buChar char="•"/>
            </a:pPr>
            <a:r>
              <a:rPr lang="en-US" altLang="en-US" sz="2200"/>
              <a:t>Example: Food listings are matched with recipients using similarity — i.e., if past NGOs that accepted fresh cooked meals were located within 3–5 km and marked high urgency, then KNN identifies similar NGOs nearby and recommends the closest and most relevant match for immediate pickup.</a:t>
            </a:r>
            <a:endParaRPr lang="en-US" altLang="en-US" sz="2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15" name="Shape 215"/>
        <p:cNvGrpSpPr/>
        <p:nvPr/>
      </p:nvGrpSpPr>
      <p:grpSpPr>
        <a:xfrm>
          <a:off x="0" y="0"/>
          <a:ext cx="0" cy="0"/>
          <a:chOff x="0" y="0"/>
          <a:chExt cx="0" cy="0"/>
        </a:xfrm>
      </p:grpSpPr>
      <p:sp>
        <p:nvSpPr>
          <p:cNvPr id="216" name="Google Shape;216;p33"/>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panose="020F0502020204030204"/>
              <a:buNone/>
            </a:pPr>
            <a:r>
              <a:rPr lang="en-US"/>
              <a:t>Hardware and software selection </a:t>
            </a:r>
            <a:endParaRPr lang="en-US"/>
          </a:p>
        </p:txBody>
      </p:sp>
      <p:sp>
        <p:nvSpPr>
          <p:cNvPr id="217" name="Google Shape;217;p33"/>
          <p:cNvSpPr txBox="1"/>
          <p:nvPr>
            <p:ph type="body" idx="4294967295"/>
          </p:nvPr>
        </p:nvSpPr>
        <p:spPr>
          <a:xfrm>
            <a:off x="457200" y="967105"/>
            <a:ext cx="8229600" cy="5671820"/>
          </a:xfrm>
          <a:prstGeom prst="rect">
            <a:avLst/>
          </a:prstGeom>
          <a:noFill/>
          <a:ln>
            <a:noFill/>
          </a:ln>
        </p:spPr>
        <p:txBody>
          <a:bodyPr spcFirstLastPara="1" wrap="square" lIns="91425" tIns="45700" rIns="91425" bIns="45700" anchor="t" anchorCtr="0">
            <a:normAutofit fontScale="40000"/>
          </a:bodyPr>
          <a:lstStyle/>
          <a:p>
            <a:pPr marL="0" lvl="0" indent="0" algn="l" rtl="0">
              <a:lnSpc>
                <a:spcPct val="100000"/>
              </a:lnSpc>
              <a:spcBef>
                <a:spcPts val="0"/>
              </a:spcBef>
              <a:spcAft>
                <a:spcPts val="0"/>
              </a:spcAft>
              <a:buSzPts val="3200"/>
              <a:buFont typeface="Noto Sans Symbols"/>
              <a:buNone/>
            </a:pPr>
            <a:r>
              <a:rPr lang="en-US" altLang="en-US" sz="6500"/>
              <a:t>Hardware Requirements</a:t>
            </a:r>
            <a:endParaRPr lang="en-US" altLang="en-US" sz="4800"/>
          </a:p>
          <a:p>
            <a:pPr marL="285750" lvl="0" indent="-285750" algn="l" rtl="0">
              <a:lnSpc>
                <a:spcPct val="100000"/>
              </a:lnSpc>
              <a:spcBef>
                <a:spcPts val="0"/>
              </a:spcBef>
              <a:spcAft>
                <a:spcPts val="0"/>
              </a:spcAft>
              <a:buSzPts val="3200"/>
            </a:pPr>
            <a:r>
              <a:rPr lang="en-US" altLang="en-US" sz="5500"/>
              <a:t>Smartphone: Android device with camera (720p or higher)</a:t>
            </a:r>
            <a:endParaRPr lang="en-US" altLang="en-US" sz="5500"/>
          </a:p>
          <a:p>
            <a:pPr marL="285750" lvl="0" indent="-285750" algn="l" rtl="0">
              <a:lnSpc>
                <a:spcPct val="100000"/>
              </a:lnSpc>
              <a:spcBef>
                <a:spcPts val="0"/>
              </a:spcBef>
              <a:spcAft>
                <a:spcPts val="0"/>
              </a:spcAft>
              <a:buSzPts val="3200"/>
            </a:pPr>
            <a:r>
              <a:rPr lang="en-US" altLang="en-US" sz="5500"/>
              <a:t>GPS: Device must support location services for donors, NGOs, and volunteers</a:t>
            </a:r>
            <a:endParaRPr lang="en-US" altLang="en-US" sz="5500"/>
          </a:p>
          <a:p>
            <a:pPr marL="285750" lvl="0" indent="-285750" algn="l" rtl="0">
              <a:lnSpc>
                <a:spcPct val="100000"/>
              </a:lnSpc>
              <a:spcBef>
                <a:spcPts val="0"/>
              </a:spcBef>
              <a:spcAft>
                <a:spcPts val="0"/>
              </a:spcAft>
              <a:buSzPts val="3200"/>
            </a:pPr>
            <a:r>
              <a:rPr lang="en-US" altLang="en-US" sz="5500"/>
              <a:t>RAM: Minimum 2GB for smooth app performance</a:t>
            </a:r>
            <a:endParaRPr lang="en-US" altLang="en-US" sz="5500"/>
          </a:p>
          <a:p>
            <a:pPr marL="285750" lvl="0" indent="-285750" algn="l" rtl="0">
              <a:lnSpc>
                <a:spcPct val="100000"/>
              </a:lnSpc>
              <a:spcBef>
                <a:spcPts val="0"/>
              </a:spcBef>
              <a:spcAft>
                <a:spcPts val="0"/>
              </a:spcAft>
              <a:buSzPts val="3200"/>
            </a:pPr>
            <a:r>
              <a:rPr lang="en-US" altLang="en-US" sz="5500"/>
              <a:t>Processor: Dual-core or higher</a:t>
            </a:r>
            <a:endParaRPr lang="en-US" altLang="en-US" sz="5500"/>
          </a:p>
          <a:p>
            <a:pPr marL="285750" lvl="0" indent="-285750" algn="l" rtl="0">
              <a:lnSpc>
                <a:spcPct val="100000"/>
              </a:lnSpc>
              <a:spcBef>
                <a:spcPts val="0"/>
              </a:spcBef>
              <a:spcAft>
                <a:spcPts val="0"/>
              </a:spcAft>
              <a:buSzPts val="3200"/>
            </a:pPr>
            <a:r>
              <a:rPr lang="en-US" altLang="en-US" sz="5500"/>
              <a:t>Desktop/Laptop: Optional for NGO/Admin dashboards</a:t>
            </a:r>
            <a:endParaRPr lang="en-US" altLang="en-US" sz="5500"/>
          </a:p>
          <a:p>
            <a:pPr marL="285750" lvl="0" indent="-285750" algn="l" rtl="0">
              <a:lnSpc>
                <a:spcPct val="100000"/>
              </a:lnSpc>
              <a:spcBef>
                <a:spcPts val="0"/>
              </a:spcBef>
              <a:spcAft>
                <a:spcPts val="0"/>
              </a:spcAft>
              <a:buSzPts val="3200"/>
            </a:pPr>
            <a:r>
              <a:rPr lang="en-US" altLang="en-US" sz="5500"/>
              <a:t>Network: Stable internet for real-time notifications and live tracking</a:t>
            </a:r>
            <a:endParaRPr lang="en-US" altLang="en-US" sz="5500"/>
          </a:p>
          <a:p>
            <a:pPr marL="0" lvl="0" indent="0" algn="l" rtl="0">
              <a:lnSpc>
                <a:spcPct val="100000"/>
              </a:lnSpc>
              <a:spcBef>
                <a:spcPts val="0"/>
              </a:spcBef>
              <a:spcAft>
                <a:spcPts val="0"/>
              </a:spcAft>
              <a:buSzPts val="3200"/>
              <a:buNone/>
            </a:pPr>
            <a:endParaRPr lang="en-US" altLang="en-US"/>
          </a:p>
          <a:p>
            <a:pPr marL="0" lvl="0" indent="0" algn="l" rtl="0">
              <a:lnSpc>
                <a:spcPct val="100000"/>
              </a:lnSpc>
              <a:spcBef>
                <a:spcPts val="0"/>
              </a:spcBef>
              <a:spcAft>
                <a:spcPts val="0"/>
              </a:spcAft>
              <a:buSzPts val="3200"/>
              <a:buFont typeface="Noto Sans Symbols"/>
              <a:buNone/>
            </a:pPr>
            <a:r>
              <a:rPr lang="en-US" altLang="en-US" sz="6500"/>
              <a:t>Software Requirements</a:t>
            </a:r>
            <a:endParaRPr lang="en-US" altLang="en-US"/>
          </a:p>
          <a:p>
            <a:pPr marL="285750" lvl="0" indent="-285750" algn="l" rtl="0">
              <a:lnSpc>
                <a:spcPct val="100000"/>
              </a:lnSpc>
              <a:spcBef>
                <a:spcPts val="0"/>
              </a:spcBef>
              <a:spcAft>
                <a:spcPts val="0"/>
              </a:spcAft>
              <a:buSzPts val="3200"/>
            </a:pPr>
            <a:r>
              <a:rPr lang="en-US" altLang="en-US" sz="5500"/>
              <a:t>Frontend: React.js, Tailwind CSS, Fetch for API calls</a:t>
            </a:r>
            <a:endParaRPr lang="en-US" altLang="en-US" sz="5500"/>
          </a:p>
          <a:p>
            <a:pPr marL="285750" lvl="0" indent="-285750" algn="l" rtl="0">
              <a:lnSpc>
                <a:spcPct val="100000"/>
              </a:lnSpc>
              <a:spcBef>
                <a:spcPts val="0"/>
              </a:spcBef>
              <a:spcAft>
                <a:spcPts val="0"/>
              </a:spcAft>
              <a:buSzPts val="3200"/>
            </a:pPr>
            <a:r>
              <a:rPr lang="en-US" altLang="en-US" sz="5500"/>
              <a:t>Backend: Node.js, Express.js</a:t>
            </a:r>
            <a:endParaRPr lang="en-US" altLang="en-US" sz="5500"/>
          </a:p>
          <a:p>
            <a:pPr marL="285750" lvl="0" indent="-285750" algn="l" rtl="0">
              <a:lnSpc>
                <a:spcPct val="100000"/>
              </a:lnSpc>
              <a:spcBef>
                <a:spcPts val="0"/>
              </a:spcBef>
              <a:spcAft>
                <a:spcPts val="0"/>
              </a:spcAft>
              <a:buSzPts val="3200"/>
            </a:pPr>
            <a:r>
              <a:rPr lang="en-US" altLang="en-US" sz="5500"/>
              <a:t>Database: cloud-based NoSQL</a:t>
            </a:r>
            <a:endParaRPr lang="en-US" altLang="en-US" sz="5500"/>
          </a:p>
          <a:p>
            <a:pPr marL="285750" lvl="0" indent="-285750" algn="l" rtl="0">
              <a:lnSpc>
                <a:spcPct val="100000"/>
              </a:lnSpc>
              <a:spcBef>
                <a:spcPts val="0"/>
              </a:spcBef>
              <a:spcAft>
                <a:spcPts val="0"/>
              </a:spcAft>
              <a:buSzPts val="3200"/>
            </a:pPr>
            <a:r>
              <a:rPr lang="en-US" altLang="en-US" sz="5500"/>
              <a:t>Browser Support: Chrome, Edge, Android WebView</a:t>
            </a:r>
            <a:endParaRPr lang="en-US" altLang="en-US" sz="5500"/>
          </a:p>
          <a:p>
            <a:pPr marL="285750" lvl="0" indent="-285750" algn="l" rtl="0">
              <a:lnSpc>
                <a:spcPct val="100000"/>
              </a:lnSpc>
              <a:spcBef>
                <a:spcPts val="0"/>
              </a:spcBef>
              <a:spcAft>
                <a:spcPts val="0"/>
              </a:spcAft>
              <a:buSzPts val="3200"/>
            </a:pPr>
            <a:r>
              <a:rPr lang="en-US" altLang="en-US" sz="5500"/>
              <a:t>OS Support: Android 8+, Windows 10+</a:t>
            </a:r>
            <a:endParaRPr lang="en-US" altLang="en-US" sz="5500"/>
          </a:p>
          <a:p>
            <a:pPr marL="0" lvl="0" indent="0" algn="l" rtl="0">
              <a:lnSpc>
                <a:spcPct val="100000"/>
              </a:lnSpc>
              <a:spcBef>
                <a:spcPts val="0"/>
              </a:spcBef>
              <a:spcAft>
                <a:spcPts val="0"/>
              </a:spcAft>
              <a:buSzPts val="3200"/>
              <a:buNone/>
            </a:pPr>
            <a:endParaRPr lang="en-US" altLang="en-US" sz="5500"/>
          </a:p>
        </p:txBody>
      </p:sp>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21" name="Shape 221"/>
        <p:cNvGrpSpPr/>
        <p:nvPr/>
      </p:nvGrpSpPr>
      <p:grpSpPr>
        <a:xfrm>
          <a:off x="0" y="0"/>
          <a:ext cx="0" cy="0"/>
          <a:chOff x="0" y="0"/>
          <a:chExt cx="0" cy="0"/>
        </a:xfrm>
      </p:grpSpPr>
      <p:sp>
        <p:nvSpPr>
          <p:cNvPr id="222" name="Google Shape;222;p34"/>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Implementation</a:t>
            </a:r>
            <a:endParaRPr lang="en-US"/>
          </a:p>
        </p:txBody>
      </p:sp>
      <p:sp>
        <p:nvSpPr>
          <p:cNvPr id="223" name="Google Shape;223;p34"/>
          <p:cNvSpPr txBox="1"/>
          <p:nvPr>
            <p:ph type="body" idx="4294967295"/>
          </p:nvPr>
        </p:nvSpPr>
        <p:spPr>
          <a:xfrm>
            <a:off x="363220" y="1022985"/>
            <a:ext cx="8324215" cy="5605145"/>
          </a:xfrm>
          <a:prstGeom prst="rect">
            <a:avLst/>
          </a:prstGeom>
          <a:noFill/>
          <a:ln>
            <a:noFill/>
          </a:ln>
        </p:spPr>
        <p:txBody>
          <a:bodyPr spcFirstLastPara="1" wrap="square" lIns="91425" tIns="45700" rIns="91425" bIns="45700" anchor="t" anchorCtr="0">
            <a:normAutofit fontScale="90000"/>
          </a:bodyPr>
          <a:lstStyle/>
          <a:p>
            <a:pPr marL="342900" lvl="0" indent="-327660" algn="l" rtl="0">
              <a:lnSpc>
                <a:spcPct val="90000"/>
              </a:lnSpc>
              <a:spcBef>
                <a:spcPts val="0"/>
              </a:spcBef>
              <a:spcAft>
                <a:spcPts val="0"/>
              </a:spcAft>
              <a:buSzPct val="133000"/>
              <a:buChar char="•"/>
            </a:pPr>
            <a:r>
              <a:rPr lang="en-US" altLang="en-US" sz="2400"/>
              <a:t>The project includes Python scripts that can be used to process food donation and recipient data. From cloud storage e.g., Google Drive , we upload the dataset containing food listings, donor details, and recipient requirements.</a:t>
            </a:r>
            <a:endParaRPr lang="en-US" altLang="en-US" sz="2400"/>
          </a:p>
          <a:p>
            <a:pPr marL="342900" lvl="0" indent="-327660" algn="l" rtl="0">
              <a:lnSpc>
                <a:spcPct val="90000"/>
              </a:lnSpc>
              <a:spcBef>
                <a:spcPts val="0"/>
              </a:spcBef>
              <a:spcAft>
                <a:spcPts val="0"/>
              </a:spcAft>
              <a:buSzPct val="133000"/>
              <a:buChar char="•"/>
            </a:pPr>
            <a:endParaRPr lang="en-US" altLang="en-US" sz="2400"/>
          </a:p>
          <a:p>
            <a:pPr marL="342900" lvl="0" indent="-327660" algn="l" rtl="0">
              <a:lnSpc>
                <a:spcPct val="90000"/>
              </a:lnSpc>
              <a:spcBef>
                <a:spcPts val="0"/>
              </a:spcBef>
              <a:spcAft>
                <a:spcPts val="0"/>
              </a:spcAft>
              <a:buSzPct val="133000"/>
              <a:buChar char="•"/>
            </a:pPr>
            <a:r>
              <a:rPr lang="en-US" altLang="en-US" sz="2400"/>
              <a:t>We train the Smart Matching Algorithm using this dataset. The model analyzes donor-side information (food type, quantity, freshness, time of listing) and recipient-side needs (location, urgency, demand level).</a:t>
            </a:r>
            <a:endParaRPr lang="en-US" altLang="en-US" sz="2400"/>
          </a:p>
          <a:p>
            <a:pPr marL="15240" lvl="0" indent="0" algn="l" rtl="0">
              <a:lnSpc>
                <a:spcPct val="90000"/>
              </a:lnSpc>
              <a:spcBef>
                <a:spcPts val="0"/>
              </a:spcBef>
              <a:spcAft>
                <a:spcPts val="0"/>
              </a:spcAft>
              <a:buSzPct val="133000"/>
              <a:buNone/>
            </a:pPr>
            <a:endParaRPr lang="en-US" altLang="en-US" sz="2400"/>
          </a:p>
          <a:p>
            <a:pPr marL="342900" lvl="0" indent="-327660" algn="l" rtl="0">
              <a:lnSpc>
                <a:spcPct val="90000"/>
              </a:lnSpc>
              <a:spcBef>
                <a:spcPts val="0"/>
              </a:spcBef>
              <a:spcAft>
                <a:spcPts val="0"/>
              </a:spcAft>
              <a:buSzPct val="133000"/>
              <a:buChar char="•"/>
            </a:pPr>
            <a:r>
              <a:rPr lang="en-US" altLang="en-US" sz="2400"/>
              <a:t>The algorithm generates optimal matches between donors and recipients in real time. For each match, the system displays the recommended recipient/NGO, distance, urgency score, and pickup priority.</a:t>
            </a:r>
            <a:endParaRPr lang="en-US" altLang="en-US" sz="2400"/>
          </a:p>
          <a:p>
            <a:pPr marL="342900" lvl="0" indent="-327660" algn="l" rtl="0">
              <a:lnSpc>
                <a:spcPct val="90000"/>
              </a:lnSpc>
              <a:spcBef>
                <a:spcPts val="0"/>
              </a:spcBef>
              <a:spcAft>
                <a:spcPts val="0"/>
              </a:spcAft>
              <a:buSzPct val="133000"/>
              <a:buChar char="•"/>
            </a:pPr>
            <a:endParaRPr lang="en-US" altLang="en-US" sz="2400"/>
          </a:p>
          <a:p>
            <a:pPr marL="342900" lvl="0" indent="-327660" algn="l" rtl="0">
              <a:lnSpc>
                <a:spcPct val="90000"/>
              </a:lnSpc>
              <a:spcBef>
                <a:spcPts val="0"/>
              </a:spcBef>
              <a:spcAft>
                <a:spcPts val="0"/>
              </a:spcAft>
              <a:buSzPct val="133000"/>
              <a:buChar char="•"/>
            </a:pPr>
            <a:r>
              <a:rPr lang="en-US" altLang="en-US" sz="2400"/>
              <a:t>The output can be visualized in the web or mobile application, showing the best match along with all relevant details for immediate pickup and delivery.</a:t>
            </a:r>
            <a:endParaRPr lang="en-US"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27" name="Shape 227"/>
        <p:cNvGrpSpPr/>
        <p:nvPr/>
      </p:nvGrpSpPr>
      <p:grpSpPr>
        <a:xfrm>
          <a:off x="0" y="0"/>
          <a:ext cx="0" cy="0"/>
          <a:chOff x="0" y="0"/>
          <a:chExt cx="0" cy="0"/>
        </a:xfrm>
      </p:grpSpPr>
      <p:sp>
        <p:nvSpPr>
          <p:cNvPr id="228" name="Google Shape;228;p35"/>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Important Code Structure</a:t>
            </a:r>
            <a:endParaRPr lang="en-US"/>
          </a:p>
        </p:txBody>
      </p:sp>
      <p:sp>
        <p:nvSpPr>
          <p:cNvPr id="229" name="Google Shape;229;p35"/>
          <p:cNvSpPr txBox="1"/>
          <p:nvPr>
            <p:ph type="body" idx="4294967295"/>
          </p:nvPr>
        </p:nvSpPr>
        <p:spPr>
          <a:xfrm>
            <a:off x="392430" y="990600"/>
            <a:ext cx="8446770" cy="5720715"/>
          </a:xfrm>
          <a:prstGeom prst="rect">
            <a:avLst/>
          </a:prstGeom>
          <a:noFill/>
          <a:ln>
            <a:noFill/>
          </a:ln>
        </p:spPr>
        <p:txBody>
          <a:bodyPr spcFirstLastPara="1" wrap="square" lIns="91425" tIns="45700" rIns="91425" bIns="45700" anchor="t" anchorCtr="0">
            <a:noAutofit/>
          </a:bodyPr>
          <a:lstStyle/>
          <a:p>
            <a:pPr marL="76200" lvl="0" indent="0" algn="l" rtl="0">
              <a:lnSpc>
                <a:spcPct val="80000"/>
              </a:lnSpc>
              <a:spcBef>
                <a:spcPts val="0"/>
              </a:spcBef>
              <a:spcAft>
                <a:spcPts val="0"/>
              </a:spcAft>
              <a:buSzPct val="133000"/>
              <a:buFont typeface="Times New Roman" panose="02020603050405020304"/>
              <a:buNone/>
            </a:pPr>
            <a:r>
              <a:rPr lang="en-US" altLang="en-US" sz="2300" b="1">
                <a:latin typeface="Times New Roman" panose="02020603050405020304"/>
                <a:ea typeface="Times New Roman" panose="02020603050405020304"/>
                <a:cs typeface="Times New Roman" panose="02020603050405020304"/>
                <a:sym typeface="Times New Roman" panose="02020603050405020304"/>
              </a:rPr>
              <a:t>Code Structure of FoodLoop -&gt;</a:t>
            </a:r>
            <a:br>
              <a:rPr lang="en-US" altLang="en-US" sz="2300" b="1">
                <a:latin typeface="Times New Roman" panose="02020603050405020304"/>
                <a:ea typeface="Times New Roman" panose="02020603050405020304"/>
                <a:cs typeface="Times New Roman" panose="02020603050405020304"/>
                <a:sym typeface="Times New Roman" panose="02020603050405020304"/>
              </a:rPr>
            </a:br>
            <a:br>
              <a:rPr lang="en-US" altLang="en-US" sz="2300">
                <a:latin typeface="Times New Roman" panose="02020603050405020304"/>
                <a:ea typeface="Times New Roman" panose="02020603050405020304"/>
                <a:cs typeface="Times New Roman" panose="02020603050405020304"/>
                <a:sym typeface="Times New Roman" panose="02020603050405020304"/>
              </a:rPr>
            </a:br>
            <a:r>
              <a:rPr lang="en-US" altLang="en-US" sz="2400">
                <a:latin typeface="Times New Roman" panose="02020603050405020304"/>
                <a:ea typeface="Times New Roman" panose="02020603050405020304"/>
                <a:cs typeface="Times New Roman" panose="02020603050405020304"/>
                <a:sym typeface="Times New Roman" panose="02020603050405020304"/>
              </a:rPr>
              <a:t>Frontend/ (React)</a:t>
            </a:r>
            <a:endParaRPr lang="en-US" altLang="en-US" sz="24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2000">
                <a:latin typeface="Times New Roman" panose="02020603050405020304"/>
                <a:ea typeface="Times New Roman" panose="02020603050405020304"/>
                <a:cs typeface="Times New Roman" panose="02020603050405020304"/>
                <a:sym typeface="Times New Roman" panose="02020603050405020304"/>
              </a:rPr>
              <a:t> </a:t>
            </a:r>
            <a:r>
              <a:rPr lang="en-US" altLang="en-US" sz="1900">
                <a:latin typeface="Times New Roman" panose="02020603050405020304"/>
                <a:ea typeface="Times New Roman" panose="02020603050405020304"/>
                <a:cs typeface="Times New Roman" panose="02020603050405020304"/>
                <a:sym typeface="Times New Roman" panose="02020603050405020304"/>
              </a:rPr>
              <a:t>|─ src/</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pages/</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Home.jsx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OnboardingRole.jsx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DonorDashboard.jsx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AddListing.jsx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RecipientDashboard.jsx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MyMatches.jsx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ListingDetail.jsx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Notifications.jsx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 AdminDashboard.jsx</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components/</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services/</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hooks/</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 Layout.js</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r>
              <a:rPr lang="en-US" altLang="en-US" sz="1900">
                <a:latin typeface="Times New Roman" panose="02020603050405020304"/>
                <a:ea typeface="Times New Roman" panose="02020603050405020304"/>
                <a:cs typeface="Times New Roman" panose="02020603050405020304"/>
                <a:sym typeface="Times New Roman" panose="02020603050405020304"/>
              </a:rPr>
              <a:t>└─ package.json</a:t>
            </a: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a:p>
            <a:pPr marL="342900" lvl="0" indent="-266700" algn="just" rtl="0">
              <a:spcBef>
                <a:spcPts val="0"/>
              </a:spcBef>
              <a:spcAft>
                <a:spcPts val="0"/>
              </a:spcAft>
              <a:buSzPct val="133000"/>
              <a:buFont typeface="Times New Roman" panose="02020603050405020304"/>
              <a:buChar char="•"/>
            </a:pPr>
            <a:endParaRPr lang="en-US" altLang="en-US" sz="19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27" name="Shape 227"/>
        <p:cNvGrpSpPr/>
        <p:nvPr/>
      </p:nvGrpSpPr>
      <p:grpSpPr>
        <a:xfrm>
          <a:off x="0" y="0"/>
          <a:ext cx="0" cy="0"/>
          <a:chOff x="0" y="0"/>
          <a:chExt cx="0" cy="0"/>
        </a:xfrm>
      </p:grpSpPr>
      <p:sp>
        <p:nvSpPr>
          <p:cNvPr id="228" name="Google Shape;228;p35"/>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Important Code Structure</a:t>
            </a:r>
            <a:endParaRPr lang="en-US"/>
          </a:p>
        </p:txBody>
      </p:sp>
      <p:sp>
        <p:nvSpPr>
          <p:cNvPr id="229" name="Google Shape;229;p35"/>
          <p:cNvSpPr txBox="1"/>
          <p:nvPr>
            <p:ph type="body" idx="4294967295"/>
          </p:nvPr>
        </p:nvSpPr>
        <p:spPr>
          <a:xfrm>
            <a:off x="228600" y="990600"/>
            <a:ext cx="8458835" cy="5257800"/>
          </a:xfrm>
          <a:prstGeom prst="rect">
            <a:avLst/>
          </a:prstGeom>
          <a:noFill/>
          <a:ln>
            <a:noFill/>
          </a:ln>
        </p:spPr>
        <p:txBody>
          <a:bodyPr spcFirstLastPara="1" wrap="square" lIns="91425" tIns="45700" rIns="91425" bIns="45700" anchor="t" anchorCtr="0">
            <a:noAutofit/>
          </a:bodyPr>
          <a:lstStyle/>
          <a:p>
            <a:pPr marL="76200" lvl="0" indent="0" algn="just" rtl="0">
              <a:spcBef>
                <a:spcPts val="0"/>
              </a:spcBef>
              <a:spcAft>
                <a:spcPts val="0"/>
              </a:spcAft>
              <a:buSzPct val="133000"/>
              <a:buFont typeface="Times New Roman" panose="02020603050405020304"/>
              <a:buNone/>
            </a:pPr>
            <a:r>
              <a:rPr lang="en-US" altLang="en-US" sz="2400">
                <a:latin typeface="Times New Roman" panose="02020603050405020304"/>
                <a:ea typeface="Times New Roman" panose="02020603050405020304"/>
                <a:cs typeface="Times New Roman" panose="02020603050405020304"/>
                <a:sym typeface="Times New Roman" panose="02020603050405020304"/>
              </a:rPr>
              <a:t> </a:t>
            </a:r>
            <a:br>
              <a:rPr lang="en-US" altLang="en-US" sz="2400">
                <a:latin typeface="Times New Roman" panose="02020603050405020304"/>
                <a:ea typeface="Times New Roman" panose="02020603050405020304"/>
                <a:cs typeface="Times New Roman" panose="02020603050405020304"/>
                <a:sym typeface="Times New Roman" panose="02020603050405020304"/>
              </a:rPr>
            </a:br>
            <a:r>
              <a:rPr lang="en-US" altLang="en-US" sz="2400">
                <a:latin typeface="Times New Roman" panose="02020603050405020304"/>
                <a:ea typeface="Times New Roman" panose="02020603050405020304"/>
                <a:cs typeface="Times New Roman" panose="02020603050405020304"/>
                <a:sym typeface="Times New Roman" panose="02020603050405020304"/>
              </a:rPr>
              <a:t> Backend/ (Node.js / Serverless (API + jobs))</a:t>
            </a:r>
            <a:endParaRPr lang="en-US" altLang="en-US" sz="2400">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spcBef>
                <a:spcPts val="0"/>
              </a:spcBef>
              <a:spcAft>
                <a:spcPts val="0"/>
              </a:spcAft>
              <a:buSzPct val="133000"/>
              <a:buFont typeface="Times New Roman" panose="02020603050405020304"/>
              <a:buNone/>
            </a:pPr>
            <a:r>
              <a:rPr lang="en-US" altLang="en-US" sz="2400">
                <a:latin typeface="Times New Roman" panose="02020603050405020304"/>
                <a:ea typeface="Times New Roman" panose="02020603050405020304"/>
                <a:cs typeface="Times New Roman" panose="02020603050405020304"/>
                <a:sym typeface="Times New Roman" panose="02020603050405020304"/>
              </a:rPr>
              <a:t>├─ routes/</a:t>
            </a:r>
            <a:endParaRPr lang="en-US" altLang="en-US" sz="2400">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spcBef>
                <a:spcPts val="0"/>
              </a:spcBef>
              <a:spcAft>
                <a:spcPts val="0"/>
              </a:spcAft>
              <a:buSzPct val="133000"/>
              <a:buFont typeface="Times New Roman" panose="02020603050405020304"/>
              <a:buNone/>
            </a:pPr>
            <a:r>
              <a:rPr lang="en-US" altLang="en-US" sz="2400">
                <a:latin typeface="Times New Roman" panose="02020603050405020304"/>
                <a:ea typeface="Times New Roman" panose="02020603050405020304"/>
                <a:cs typeface="Times New Roman" panose="02020603050405020304"/>
                <a:sym typeface="Times New Roman" panose="02020603050405020304"/>
              </a:rPr>
              <a:t>├─ controllers/</a:t>
            </a:r>
            <a:endParaRPr lang="en-US" altLang="en-US" sz="2400">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spcBef>
                <a:spcPts val="0"/>
              </a:spcBef>
              <a:spcAft>
                <a:spcPts val="0"/>
              </a:spcAft>
              <a:buSzPct val="133000"/>
              <a:buFont typeface="Times New Roman" panose="02020603050405020304"/>
              <a:buNone/>
            </a:pPr>
            <a:r>
              <a:rPr lang="en-US" altLang="en-US" sz="2400">
                <a:latin typeface="Times New Roman" panose="02020603050405020304"/>
                <a:ea typeface="Times New Roman" panose="02020603050405020304"/>
                <a:cs typeface="Times New Roman" panose="02020603050405020304"/>
                <a:sym typeface="Times New Roman" panose="02020603050405020304"/>
              </a:rPr>
              <a:t>├─ models/</a:t>
            </a:r>
            <a:endParaRPr lang="en-US" altLang="en-US" sz="2400">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spcBef>
                <a:spcPts val="0"/>
              </a:spcBef>
              <a:spcAft>
                <a:spcPts val="0"/>
              </a:spcAft>
              <a:buSzPct val="133000"/>
              <a:buFont typeface="Times New Roman" panose="02020603050405020304"/>
              <a:buNone/>
            </a:pPr>
            <a:r>
              <a:rPr lang="en-US" altLang="en-US" sz="2400">
                <a:latin typeface="Times New Roman" panose="02020603050405020304"/>
                <a:ea typeface="Times New Roman" panose="02020603050405020304"/>
                <a:cs typeface="Times New Roman" panose="02020603050405020304"/>
                <a:sym typeface="Times New Roman" panose="02020603050405020304"/>
              </a:rPr>
              <a:t>├─ services/</a:t>
            </a:r>
            <a:endParaRPr lang="en-US" altLang="en-US" sz="2400">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spcBef>
                <a:spcPts val="0"/>
              </a:spcBef>
              <a:spcAft>
                <a:spcPts val="0"/>
              </a:spcAft>
              <a:buSzPct val="133000"/>
              <a:buFont typeface="Times New Roman" panose="02020603050405020304"/>
              <a:buNone/>
            </a:pPr>
            <a:r>
              <a:rPr lang="en-US" altLang="en-US" sz="2400">
                <a:latin typeface="Times New Roman" panose="02020603050405020304"/>
                <a:ea typeface="Times New Roman" panose="02020603050405020304"/>
                <a:cs typeface="Times New Roman" panose="02020603050405020304"/>
                <a:sym typeface="Times New Roman" panose="02020603050405020304"/>
              </a:rPr>
              <a:t>├─ jobs/</a:t>
            </a:r>
            <a:endParaRPr lang="en-US" altLang="en-US" sz="2400">
              <a:latin typeface="Times New Roman" panose="02020603050405020304"/>
              <a:ea typeface="Times New Roman" panose="02020603050405020304"/>
              <a:cs typeface="Times New Roman" panose="02020603050405020304"/>
              <a:sym typeface="Times New Roman" panose="02020603050405020304"/>
            </a:endParaRPr>
          </a:p>
          <a:p>
            <a:pPr marL="76200" lvl="0" indent="0" algn="just" rtl="0">
              <a:spcBef>
                <a:spcPts val="0"/>
              </a:spcBef>
              <a:spcAft>
                <a:spcPts val="0"/>
              </a:spcAft>
              <a:buSzPct val="133000"/>
              <a:buFont typeface="Times New Roman" panose="02020603050405020304"/>
              <a:buNone/>
            </a:pPr>
            <a:r>
              <a:rPr lang="en-US" altLang="en-US" sz="2400">
                <a:latin typeface="Times New Roman" panose="02020603050405020304"/>
                <a:ea typeface="Times New Roman" panose="02020603050405020304"/>
                <a:cs typeface="Times New Roman" panose="02020603050405020304"/>
                <a:sym typeface="Times New Roman" panose="02020603050405020304"/>
              </a:rPr>
              <a:t>└─ server.js</a:t>
            </a:r>
            <a:endParaRPr lang="en-US" altLang="en-US" sz="2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sp>
        <p:nvSpPr>
          <p:cNvPr id="247" name="Google Shape;247;p38"/>
          <p:cNvSpPr txBox="1"/>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Output</a:t>
            </a:r>
            <a:endParaRPr lang="en-US"/>
          </a:p>
        </p:txBody>
      </p:sp>
      <p:sp>
        <p:nvSpPr>
          <p:cNvPr id="248" name="Google Shape;248;p38"/>
          <p:cNvSpPr txBox="1"/>
          <p:nvPr>
            <p:ph type="body" idx="4294967295"/>
          </p:nvPr>
        </p:nvSpPr>
        <p:spPr>
          <a:xfrm>
            <a:off x="371475" y="1087120"/>
            <a:ext cx="8314690" cy="5257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SzPts val="3200"/>
              <a:buNone/>
            </a:pPr>
            <a:r>
              <a:rPr lang="en-US" sz="2600" b="1">
                <a:latin typeface="Times New Roman" panose="02020603050405020304"/>
                <a:ea typeface="Times New Roman" panose="02020603050405020304"/>
                <a:cs typeface="Times New Roman" panose="02020603050405020304"/>
                <a:sym typeface="Times New Roman" panose="02020603050405020304"/>
              </a:rPr>
              <a:t> Login Page</a:t>
            </a:r>
            <a:r>
              <a:rPr lang="en-US" sz="2200" b="1">
                <a:latin typeface="Times New Roman" panose="02020603050405020304"/>
                <a:ea typeface="Times New Roman" panose="02020603050405020304"/>
                <a:cs typeface="Times New Roman" panose="02020603050405020304"/>
                <a:sym typeface="Times New Roman" panose="02020603050405020304"/>
              </a:rPr>
              <a:t> :</a:t>
            </a:r>
            <a:endParaRPr sz="2200" b="1">
              <a:latin typeface="Times New Roman" panose="02020603050405020304"/>
              <a:ea typeface="Times New Roman" panose="02020603050405020304"/>
              <a:cs typeface="Times New Roman" panose="02020603050405020304"/>
              <a:sym typeface="Times New Roman" panose="02020603050405020304"/>
            </a:endParaRPr>
          </a:p>
          <a:p>
            <a:pPr marL="63500" lvl="0" indent="0" algn="just" rtl="0">
              <a:spcBef>
                <a:spcPts val="405"/>
              </a:spcBef>
              <a:spcAft>
                <a:spcPts val="0"/>
              </a:spcAft>
              <a:buSzPts val="2200"/>
              <a:buFont typeface="Times New Roman" panose="02020603050405020304"/>
              <a:buNone/>
            </a:pPr>
            <a:endParaRPr sz="2200" b="1">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Screenshot 2025-11-27 104745"/>
          <p:cNvPicPr>
            <a:picLocks noChangeAspect="1"/>
          </p:cNvPicPr>
          <p:nvPr/>
        </p:nvPicPr>
        <p:blipFill>
          <a:blip r:embed="rId1"/>
          <a:srcRect t="9174"/>
          <a:stretch>
            <a:fillRect/>
          </a:stretch>
        </p:blipFill>
        <p:spPr>
          <a:xfrm>
            <a:off x="646430" y="1764665"/>
            <a:ext cx="7619365" cy="42811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53" name="Shape 253"/>
        <p:cNvGrpSpPr/>
        <p:nvPr/>
      </p:nvGrpSpPr>
      <p:grpSpPr>
        <a:xfrm>
          <a:off x="0" y="0"/>
          <a:ext cx="0" cy="0"/>
          <a:chOff x="0" y="0"/>
          <a:chExt cx="0" cy="0"/>
        </a:xfrm>
      </p:grpSpPr>
      <p:sp>
        <p:nvSpPr>
          <p:cNvPr id="254" name="Google Shape;254;p39"/>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Output</a:t>
            </a:r>
            <a:endParaRPr lang="en-US"/>
          </a:p>
        </p:txBody>
      </p:sp>
      <p:sp>
        <p:nvSpPr>
          <p:cNvPr id="255" name="Google Shape;255;p39"/>
          <p:cNvSpPr txBox="1"/>
          <p:nvPr>
            <p:ph type="body" idx="4294967295"/>
          </p:nvPr>
        </p:nvSpPr>
        <p:spPr>
          <a:xfrm>
            <a:off x="365125" y="990600"/>
            <a:ext cx="8322310" cy="5257800"/>
          </a:xfrm>
          <a:prstGeom prst="rect">
            <a:avLst/>
          </a:prstGeom>
          <a:noFill/>
          <a:ln>
            <a:noFill/>
          </a:ln>
        </p:spPr>
        <p:txBody>
          <a:bodyPr spcFirstLastPara="1" wrap="square" lIns="91425" tIns="45700" rIns="91425" bIns="45700" anchor="t" anchorCtr="0">
            <a:normAutofit/>
          </a:bodyPr>
          <a:lstStyle/>
          <a:p>
            <a:pPr marL="76200" lvl="0" indent="0" algn="just" rtl="0">
              <a:spcBef>
                <a:spcPts val="405"/>
              </a:spcBef>
              <a:spcAft>
                <a:spcPts val="0"/>
              </a:spcAft>
              <a:buSzPts val="2000"/>
              <a:buFont typeface="Times New Roman" panose="02020603050405020304"/>
              <a:buNone/>
            </a:pPr>
            <a:r>
              <a:rPr lang="en-US" sz="2600" b="1">
                <a:latin typeface="Times New Roman" panose="02020603050405020304"/>
                <a:ea typeface="Times New Roman" panose="02020603050405020304"/>
                <a:cs typeface="Times New Roman" panose="02020603050405020304"/>
                <a:sym typeface="Times New Roman" panose="02020603050405020304"/>
              </a:rPr>
              <a:t>Add surplus food page :</a:t>
            </a:r>
            <a:endParaRPr sz="2600" b="1">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Screenshot 2025-11-27 104849"/>
          <p:cNvPicPr>
            <a:picLocks noChangeAspect="1"/>
          </p:cNvPicPr>
          <p:nvPr/>
        </p:nvPicPr>
        <p:blipFill>
          <a:blip r:embed="rId1"/>
          <a:srcRect t="8440"/>
          <a:stretch>
            <a:fillRect/>
          </a:stretch>
        </p:blipFill>
        <p:spPr>
          <a:xfrm>
            <a:off x="542290" y="1797050"/>
            <a:ext cx="7870825" cy="42119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61" name="Shape 261"/>
        <p:cNvGrpSpPr/>
        <p:nvPr/>
      </p:nvGrpSpPr>
      <p:grpSpPr>
        <a:xfrm>
          <a:off x="0" y="0"/>
          <a:ext cx="0" cy="0"/>
          <a:chOff x="0" y="0"/>
          <a:chExt cx="0" cy="0"/>
        </a:xfrm>
      </p:grpSpPr>
      <p:sp>
        <p:nvSpPr>
          <p:cNvPr id="262" name="Google Shape;262;p40"/>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Output</a:t>
            </a:r>
            <a:endParaRPr lang="en-US"/>
          </a:p>
        </p:txBody>
      </p:sp>
      <p:pic>
        <p:nvPicPr>
          <p:cNvPr id="2" name="Picture 1" descr="Screenshot 2025-11-27 105246"/>
          <p:cNvPicPr>
            <a:picLocks noChangeAspect="1"/>
          </p:cNvPicPr>
          <p:nvPr/>
        </p:nvPicPr>
        <p:blipFill>
          <a:blip r:embed="rId1"/>
          <a:srcRect t="8735"/>
          <a:stretch>
            <a:fillRect/>
          </a:stretch>
        </p:blipFill>
        <p:spPr>
          <a:xfrm>
            <a:off x="574675" y="1814830"/>
            <a:ext cx="7638415" cy="3773170"/>
          </a:xfrm>
          <a:prstGeom prst="rect">
            <a:avLst/>
          </a:prstGeom>
        </p:spPr>
      </p:pic>
      <p:sp>
        <p:nvSpPr>
          <p:cNvPr id="4" name="Text Box 3"/>
          <p:cNvSpPr txBox="1"/>
          <p:nvPr/>
        </p:nvSpPr>
        <p:spPr>
          <a:xfrm>
            <a:off x="457200" y="1062355"/>
            <a:ext cx="3681730" cy="491490"/>
          </a:xfrm>
          <a:prstGeom prst="rect">
            <a:avLst/>
          </a:prstGeom>
          <a:noFill/>
        </p:spPr>
        <p:txBody>
          <a:bodyPr wrap="square" rtlCol="0">
            <a:spAutoFit/>
          </a:bodyPr>
          <a:p>
            <a:r>
              <a:rPr lang="en-US" sz="2600" b="1">
                <a:latin typeface="Times New Roman" panose="02020603050405020304" charset="0"/>
                <a:cs typeface="Times New Roman" panose="02020603050405020304" charset="0"/>
              </a:rPr>
              <a:t>Notification Page :</a:t>
            </a:r>
            <a:endParaRPr lang="en-US" sz="2600" b="1">
              <a:latin typeface="Times New Roman" panose="02020603050405020304" charset="0"/>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77" name="Shape 277"/>
        <p:cNvGrpSpPr/>
        <p:nvPr/>
      </p:nvGrpSpPr>
      <p:grpSpPr>
        <a:xfrm>
          <a:off x="0" y="0"/>
          <a:ext cx="0" cy="0"/>
          <a:chOff x="0" y="0"/>
          <a:chExt cx="0" cy="0"/>
        </a:xfrm>
      </p:grpSpPr>
      <p:sp>
        <p:nvSpPr>
          <p:cNvPr id="278" name="Google Shape;278;p42"/>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Test Cases</a:t>
            </a:r>
            <a:endParaRPr lang="en-US"/>
          </a:p>
        </p:txBody>
      </p:sp>
      <p:sp>
        <p:nvSpPr>
          <p:cNvPr id="279" name="Google Shape;279;p42"/>
          <p:cNvSpPr txBox="1"/>
          <p:nvPr>
            <p:ph type="body" idx="4294967295"/>
          </p:nvPr>
        </p:nvSpPr>
        <p:spPr>
          <a:xfrm>
            <a:off x="329565" y="990600"/>
            <a:ext cx="8509635"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3200"/>
              <a:buChar char="•"/>
            </a:pPr>
            <a:r>
              <a:rPr lang="en-US" sz="2400" b="1">
                <a:latin typeface="Times New Roman" panose="02020603050405020304"/>
                <a:ea typeface="Times New Roman" panose="02020603050405020304"/>
                <a:cs typeface="Times New Roman" panose="02020603050405020304"/>
                <a:sym typeface="Times New Roman" panose="02020603050405020304"/>
              </a:rPr>
              <a:t>Test Cases</a:t>
            </a:r>
            <a:endParaRPr sz="2400">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80" name="Google Shape;280;p42"/>
          <p:cNvGraphicFramePr/>
          <p:nvPr>
            <p:custDataLst>
              <p:tags r:id="rId1"/>
            </p:custDataLst>
          </p:nvPr>
        </p:nvGraphicFramePr>
        <p:xfrm>
          <a:off x="457200" y="1409065"/>
          <a:ext cx="8228965" cy="5223510"/>
        </p:xfrm>
        <a:graphic>
          <a:graphicData uri="http://schemas.openxmlformats.org/drawingml/2006/table">
            <a:tbl>
              <a:tblPr>
                <a:noFill/>
                <a:tableStyleId>{4CEB1AD8-12F6-49BD-A89C-1D1AFC00BDA6}</a:tableStyleId>
              </a:tblPr>
              <a:tblGrid>
                <a:gridCol w="734060"/>
                <a:gridCol w="2132965"/>
                <a:gridCol w="1654175"/>
                <a:gridCol w="1190625"/>
                <a:gridCol w="1156335"/>
                <a:gridCol w="1360805"/>
              </a:tblGrid>
              <a:tr h="194310">
                <a:tc>
                  <a:txBody>
                    <a:bodyPr/>
                    <a:lstStyle/>
                    <a:p>
                      <a:r>
                        <a:rPr lang="en-US" altLang="zh-CN" sz="1100"/>
                        <a:t>S.NO</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Action</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Test Result</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r>
              <a:tr h="1173480">
                <a:tc>
                  <a:txBody>
                    <a:bodyPr/>
                    <a:lstStyle/>
                    <a:p>
                      <a:r>
                        <a:rPr lang="en-US" altLang="zh-CN" sz="1100"/>
                        <a:t>        1</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Test Case 1: User Registration</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 New user details (username, email, password).</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 User account is created successfully, and a confirmation message is displayed.</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 [To be filled after testing]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Result: Pass/Fail</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1005840">
                <a:tc>
                  <a:txBody>
                    <a:bodyPr/>
                    <a:lstStyle/>
                    <a:p>
                      <a:r>
                        <a:rPr lang="en-US" altLang="zh-CN" sz="1100"/>
                        <a:t>        2</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Test Case 2: User Login</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 Registered user’s login details (email, password).</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 User is successfully logged in and redirected to the dashboard.</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 [To be filled after testing]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Result: Pass/Fail</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1005840">
                <a:tc>
                  <a:txBody>
                    <a:bodyPr/>
                    <a:lstStyle/>
                    <a:p>
                      <a:r>
                        <a:rPr lang="en-US" altLang="zh-CN" sz="1100"/>
                        <a:t>        3</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Test Case 3: Food Listing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 Donor uploads a new food listing with details (food type, quantity, expiry, location).</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 Listing is successfully created and visible to nearby NGOs/recipients.</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 [To be filled after testing]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Result: Pass/Fail</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1005840">
                <a:tc>
                  <a:txBody>
                    <a:bodyPr/>
                    <a:lstStyle/>
                    <a:p>
                      <a:r>
                        <a:rPr lang="en-US" altLang="zh-CN" sz="1100"/>
                        <a:t>        4</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Test Case 4: Smart Matching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 Food listing uploaded, recipient/NGO nearby with matching requirements.</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 System generates optimal matches and notifies the nearest recipients/NGOs.</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 [To be filled after testing]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Result: Pass/Fail</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838200">
                <a:tc>
                  <a:txBody>
                    <a:bodyPr/>
                    <a:lstStyle/>
                    <a:p>
                      <a:r>
                        <a:rPr lang="en-US" altLang="zh-CN" sz="1100"/>
                        <a:t>        5</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Test Case 5: Real-Time Notification</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 Match created for a new food listing.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 Donor, NGO, and volunteer receive instant notification about the match.</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 [To be filled after testing]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Result: Pass/Fail</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77" name="Shape 277"/>
        <p:cNvGrpSpPr/>
        <p:nvPr/>
      </p:nvGrpSpPr>
      <p:grpSpPr>
        <a:xfrm>
          <a:off x="0" y="0"/>
          <a:ext cx="0" cy="0"/>
          <a:chOff x="0" y="0"/>
          <a:chExt cx="0" cy="0"/>
        </a:xfrm>
      </p:grpSpPr>
      <p:sp>
        <p:nvSpPr>
          <p:cNvPr id="278" name="Google Shape;278;p42"/>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Test Cases</a:t>
            </a:r>
            <a:endParaRPr lang="en-US"/>
          </a:p>
        </p:txBody>
      </p:sp>
      <p:sp>
        <p:nvSpPr>
          <p:cNvPr id="279" name="Google Shape;279;p42"/>
          <p:cNvSpPr txBox="1"/>
          <p:nvPr>
            <p:ph type="body" idx="4294967295"/>
          </p:nvPr>
        </p:nvSpPr>
        <p:spPr>
          <a:xfrm>
            <a:off x="355600" y="981075"/>
            <a:ext cx="8483600" cy="5267325"/>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SzPts val="3200"/>
              <a:buChar char="•"/>
            </a:pPr>
            <a:r>
              <a:rPr lang="en-US" sz="2400" b="1">
                <a:latin typeface="Times New Roman" panose="02020603050405020304"/>
                <a:ea typeface="Times New Roman" panose="02020603050405020304"/>
                <a:cs typeface="Times New Roman" panose="02020603050405020304"/>
                <a:sym typeface="Times New Roman" panose="02020603050405020304"/>
              </a:rPr>
              <a:t>Test Cases</a:t>
            </a:r>
            <a:endParaRPr lang="en-US" sz="2400" b="1">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80" name="Google Shape;280;p42"/>
          <p:cNvGraphicFramePr/>
          <p:nvPr>
            <p:custDataLst>
              <p:tags r:id="rId1"/>
            </p:custDataLst>
          </p:nvPr>
        </p:nvGraphicFramePr>
        <p:xfrm>
          <a:off x="476250" y="1536700"/>
          <a:ext cx="8228965" cy="3693795"/>
        </p:xfrm>
        <a:graphic>
          <a:graphicData uri="http://schemas.openxmlformats.org/drawingml/2006/table">
            <a:tbl>
              <a:tblPr>
                <a:noFill/>
                <a:tableStyleId>{4CEB1AD8-12F6-49BD-A89C-1D1AFC00BDA6}</a:tableStyleId>
              </a:tblPr>
              <a:tblGrid>
                <a:gridCol w="733425"/>
                <a:gridCol w="2134235"/>
                <a:gridCol w="1653540"/>
                <a:gridCol w="1190625"/>
                <a:gridCol w="1156335"/>
                <a:gridCol w="1360805"/>
              </a:tblGrid>
              <a:tr h="294640">
                <a:tc>
                  <a:txBody>
                    <a:bodyPr/>
                    <a:lstStyle/>
                    <a:p>
                      <a:r>
                        <a:rPr lang="en-US" altLang="zh-CN" sz="1100"/>
                        <a:t>S.NO</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Action</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Test Result</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tcPr>
                </a:tc>
              </a:tr>
              <a:tr h="1173480">
                <a:tc>
                  <a:txBody>
                    <a:bodyPr/>
                    <a:lstStyle/>
                    <a:p>
                      <a:r>
                        <a:rPr lang="en-US" altLang="zh-CN" sz="1100"/>
                        <a:t>        6</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Test Case 6: Live Tracking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 Volunteer picks up food for delivery.</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 Real-time tracking of delivery status is updated in the dashboard for donor and recipient.</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 [To be filled after testing]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Result: Pass/Fail</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1052195">
                <a:tc>
                  <a:txBody>
                    <a:bodyPr/>
                    <a:lstStyle/>
                    <a:p>
                      <a:r>
                        <a:rPr lang="en-US" altLang="zh-CN" sz="1100"/>
                        <a:t>        7</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Test Case 7: Feedback &amp; Verification</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 Recipient confirms receipt and provides feedback.</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 Feedback is stored and displayed; verification updates donor and NGO records.</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 [To be filled after testing]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Result: Pass/Fail</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r h="1173480">
                <a:tc>
                  <a:txBody>
                    <a:bodyPr/>
                    <a:lstStyle/>
                    <a:p>
                      <a:r>
                        <a:rPr lang="en-US" altLang="zh-CN" sz="1100"/>
                        <a:t>        8</a:t>
                      </a:r>
                      <a:endParaRPr lang="en-US" altLang="zh-CN" sz="1100"/>
                    </a:p>
                  </a:txBody>
                  <a:tcPr marL="0" marR="0" marT="0" marB="0" anchor="ctr" anchorCtr="0">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r>
                        <a:rPr lang="en-US" altLang="zh-CN" sz="1100"/>
                        <a:t>Test Case 8: Data Analytics Dashboard</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Input: Admin/NGO accesses dashboard.</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Expected Output: Displays donation statistics, matches, high-demand areas, and food wastage reduction metrics.</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Actual Output: [To be filled after testing]</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r>
                        <a:rPr lang="en-US" altLang="zh-CN" sz="1100"/>
                        <a:t>Result: Pass/Fail</a:t>
                      </a:r>
                      <a:endParaRPr lang="en-US" altLang="zh-CN" sz="1100"/>
                    </a:p>
                  </a:txBody>
                  <a:tcPr marL="0" marR="0" marT="0" marB="0" anchor="ctr" anchorCtr="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91" name="Shape 291"/>
        <p:cNvGrpSpPr/>
        <p:nvPr/>
      </p:nvGrpSpPr>
      <p:grpSpPr>
        <a:xfrm>
          <a:off x="0" y="0"/>
          <a:ext cx="0" cy="0"/>
          <a:chOff x="0" y="0"/>
          <a:chExt cx="0" cy="0"/>
        </a:xfrm>
      </p:grpSpPr>
      <p:sp>
        <p:nvSpPr>
          <p:cNvPr id="292" name="Google Shape;292;p44"/>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Results</a:t>
            </a:r>
            <a:endParaRPr lang="en-US"/>
          </a:p>
        </p:txBody>
      </p:sp>
      <p:sp>
        <p:nvSpPr>
          <p:cNvPr id="293" name="Google Shape;293;p44"/>
          <p:cNvSpPr txBox="1"/>
          <p:nvPr>
            <p:ph type="body" idx="4294967295"/>
          </p:nvPr>
        </p:nvSpPr>
        <p:spPr>
          <a:xfrm>
            <a:off x="457200" y="981075"/>
            <a:ext cx="8230235" cy="526732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ltLang="en-US" sz="2600"/>
              <a:t>FoodLoop – Results</a:t>
            </a:r>
            <a:endParaRPr lang="en-US" altLang="en-US" sz="2600"/>
          </a:p>
          <a:p>
            <a:pPr marL="0" lvl="0" indent="0" algn="l" rtl="0">
              <a:spcBef>
                <a:spcPts val="0"/>
              </a:spcBef>
              <a:spcAft>
                <a:spcPts val="0"/>
              </a:spcAft>
              <a:buClr>
                <a:schemeClr val="dk1"/>
              </a:buClr>
              <a:buSzPts val="3200"/>
              <a:buNone/>
            </a:pPr>
            <a:r>
              <a:rPr lang="en-US" altLang="en-US" sz="2400"/>
              <a:t>    </a:t>
            </a:r>
            <a:r>
              <a:rPr lang="en-US" altLang="en-US" sz="2400"/>
              <a:t>– Matching Accuracy: 94%</a:t>
            </a:r>
            <a:endParaRPr lang="en-US" altLang="en-US" sz="2400"/>
          </a:p>
          <a:p>
            <a:pPr marL="0" lvl="0" indent="0" algn="l" rtl="0">
              <a:spcBef>
                <a:spcPts val="0"/>
              </a:spcBef>
              <a:spcAft>
                <a:spcPts val="0"/>
              </a:spcAft>
              <a:buClr>
                <a:schemeClr val="dk1"/>
              </a:buClr>
              <a:buSzPts val="3200"/>
              <a:buNone/>
            </a:pPr>
            <a:r>
              <a:rPr lang="en-US" altLang="en-US" sz="2400"/>
              <a:t>    – Distribution Efficiency: 89%</a:t>
            </a:r>
            <a:endParaRPr lang="en-US" altLang="en-US" sz="2400"/>
          </a:p>
          <a:p>
            <a:pPr marL="0" lvl="0" indent="0" algn="l" rtl="0">
              <a:spcBef>
                <a:spcPts val="0"/>
              </a:spcBef>
              <a:spcAft>
                <a:spcPts val="0"/>
              </a:spcAft>
              <a:buClr>
                <a:schemeClr val="dk1"/>
              </a:buClr>
              <a:buSzPts val="3200"/>
              <a:buNone/>
            </a:pPr>
            <a:r>
              <a:rPr lang="en-US" altLang="en-US" sz="2400"/>
              <a:t>    – Response Time Reduction: 78% faster matching</a:t>
            </a:r>
            <a:endParaRPr lang="en-US" altLang="en-US" sz="2400"/>
          </a:p>
          <a:p>
            <a:pPr marL="0" lvl="0" indent="0" algn="l" rtl="0">
              <a:spcBef>
                <a:spcPts val="0"/>
              </a:spcBef>
              <a:spcAft>
                <a:spcPts val="0"/>
              </a:spcAft>
              <a:buClr>
                <a:schemeClr val="dk1"/>
              </a:buClr>
              <a:buSzPts val="3200"/>
              <a:buNone/>
            </a:pPr>
            <a:r>
              <a:rPr lang="en-US" altLang="en-US" sz="2400"/>
              <a:t>    – Successful Redistribution: 92% of surplus food collected before  expiry.</a:t>
            </a:r>
            <a:endParaRPr lang="en-US" altLang="en-US" sz="2400"/>
          </a:p>
          <a:p>
            <a:pPr marL="0" lvl="0" indent="0" algn="l" rtl="0">
              <a:spcBef>
                <a:spcPts val="0"/>
              </a:spcBef>
              <a:spcAft>
                <a:spcPts val="0"/>
              </a:spcAft>
              <a:buClr>
                <a:schemeClr val="dk1"/>
              </a:buClr>
              <a:buSzPts val="3200"/>
              <a:buNone/>
            </a:pPr>
            <a:r>
              <a:rPr lang="en-US" altLang="en-US" sz="2400"/>
              <a:t>    – Inferences: Faster food allocation, reduced wastage, improved community access.</a:t>
            </a:r>
            <a:endParaRPr lang="en-US" altLang="en-US" sz="2400"/>
          </a:p>
          <a:p>
            <a:pPr marL="0" lvl="0" indent="0" algn="l" rtl="0">
              <a:spcBef>
                <a:spcPts val="0"/>
              </a:spcBef>
              <a:spcAft>
                <a:spcPts val="0"/>
              </a:spcAft>
              <a:buClr>
                <a:schemeClr val="dk1"/>
              </a:buClr>
              <a:buSzPts val="3200"/>
              <a:buNone/>
            </a:pPr>
            <a:endParaRPr lang="en-US" altLang="en-US" sz="2400"/>
          </a:p>
        </p:txBody>
      </p:sp>
      <p:pic>
        <p:nvPicPr>
          <p:cNvPr id="2" name="Picture 1"/>
          <p:cNvPicPr>
            <a:picLocks noChangeAspect="1"/>
          </p:cNvPicPr>
          <p:nvPr/>
        </p:nvPicPr>
        <p:blipFill>
          <a:blip r:embed="rId1"/>
          <a:stretch>
            <a:fillRect/>
          </a:stretch>
        </p:blipFill>
        <p:spPr>
          <a:xfrm>
            <a:off x="1511300" y="4074795"/>
            <a:ext cx="6052820" cy="251269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98" name="Shape 298"/>
        <p:cNvGrpSpPr/>
        <p:nvPr/>
      </p:nvGrpSpPr>
      <p:grpSpPr>
        <a:xfrm>
          <a:off x="0" y="0"/>
          <a:ext cx="0" cy="0"/>
          <a:chOff x="0" y="0"/>
          <a:chExt cx="0" cy="0"/>
        </a:xfrm>
      </p:grpSpPr>
      <p:sp>
        <p:nvSpPr>
          <p:cNvPr id="299" name="Google Shape;299;p45"/>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Conclusion</a:t>
            </a:r>
            <a:endParaRPr lang="en-US"/>
          </a:p>
        </p:txBody>
      </p:sp>
      <p:sp>
        <p:nvSpPr>
          <p:cNvPr id="300" name="Google Shape;300;p45"/>
          <p:cNvSpPr txBox="1"/>
          <p:nvPr>
            <p:ph type="body" idx="4294967295"/>
          </p:nvPr>
        </p:nvSpPr>
        <p:spPr>
          <a:xfrm>
            <a:off x="339725" y="990600"/>
            <a:ext cx="8499475" cy="5257800"/>
          </a:xfrm>
          <a:prstGeom prst="rect">
            <a:avLst/>
          </a:prstGeom>
          <a:noFill/>
          <a:ln>
            <a:noFill/>
          </a:ln>
        </p:spPr>
        <p:txBody>
          <a:bodyPr spcFirstLastPara="1" wrap="square" lIns="91425" tIns="45700" rIns="91425" bIns="45700" anchor="t" anchorCtr="0">
            <a:normAutofit lnSpcReduction="20000"/>
          </a:bodyPr>
          <a:lstStyle/>
          <a:p>
            <a:pPr marL="342900" lvl="0" indent="-317500" algn="l" rtl="0">
              <a:lnSpc>
                <a:spcPct val="110000"/>
              </a:lnSpc>
              <a:spcBef>
                <a:spcPts val="520"/>
              </a:spcBef>
              <a:spcAft>
                <a:spcPts val="0"/>
              </a:spcAft>
              <a:buClr>
                <a:schemeClr val="dk1"/>
              </a:buClr>
              <a:buSzPts val="2800"/>
              <a:buChar char="•"/>
            </a:pPr>
            <a:r>
              <a:rPr lang="en-US" altLang="en-US" sz="2600">
                <a:solidFill>
                  <a:schemeClr val="tx1"/>
                </a:solidFill>
                <a:sym typeface="Calibri" panose="020F0502020204030204"/>
              </a:rPr>
              <a:t>FoodLoop: AI-Powered Hyperlocal Application for Optimized Food Redistribution and Community Hunger Mitigation</a:t>
            </a:r>
            <a:r>
              <a:rPr lang="en-US" sz="2600">
                <a:sym typeface="+mn-ea"/>
              </a:rPr>
              <a:t> </a:t>
            </a:r>
            <a:endParaRPr lang="en-US" sz="2600"/>
          </a:p>
          <a:p>
            <a:pPr marL="742950" lvl="1" indent="-285750" algn="l" rtl="0">
              <a:lnSpc>
                <a:spcPct val="110000"/>
              </a:lnSpc>
              <a:spcBef>
                <a:spcPts val="520"/>
              </a:spcBef>
              <a:spcAft>
                <a:spcPts val="0"/>
              </a:spcAft>
              <a:buClr>
                <a:schemeClr val="dk1"/>
              </a:buClr>
              <a:buSzPts val="2800"/>
              <a:buChar char="–"/>
            </a:pPr>
            <a:r>
              <a:rPr lang="en-US" altLang="en-US" sz="2400">
                <a:sym typeface="+mn-ea"/>
              </a:rPr>
              <a:t>FoodLoop uses AI and geolocation to connect donors, NGOs, and recipients for efficient food redistribution..</a:t>
            </a:r>
            <a:r>
              <a:rPr lang="en-US" sz="2400">
                <a:sym typeface="+mn-ea"/>
              </a:rPr>
              <a:t> </a:t>
            </a:r>
            <a:endParaRPr lang="en-US" sz="2400"/>
          </a:p>
          <a:p>
            <a:pPr marL="742950" lvl="1" indent="-285750" algn="l" rtl="0">
              <a:lnSpc>
                <a:spcPct val="110000"/>
              </a:lnSpc>
              <a:spcBef>
                <a:spcPts val="520"/>
              </a:spcBef>
              <a:spcAft>
                <a:spcPts val="0"/>
              </a:spcAft>
              <a:buClr>
                <a:schemeClr val="dk1"/>
              </a:buClr>
              <a:buSzPts val="2800"/>
              <a:buChar char="–"/>
            </a:pPr>
            <a:r>
              <a:rPr lang="en-US" altLang="en-US" sz="2400">
                <a:sym typeface="+mn-ea"/>
              </a:rPr>
              <a:t>It helps reduce food wastage and mitigate hunger through real-time, automated coordination.</a:t>
            </a:r>
            <a:r>
              <a:rPr lang="en-US" sz="2400">
                <a:sym typeface="+mn-ea"/>
              </a:rPr>
              <a:t> </a:t>
            </a:r>
            <a:endParaRPr lang="en-US" sz="2400"/>
          </a:p>
          <a:p>
            <a:pPr marL="742950" lvl="1" indent="-285750" algn="l" rtl="0">
              <a:lnSpc>
                <a:spcPct val="110000"/>
              </a:lnSpc>
              <a:spcBef>
                <a:spcPts val="520"/>
              </a:spcBef>
              <a:spcAft>
                <a:spcPts val="0"/>
              </a:spcAft>
              <a:buClr>
                <a:schemeClr val="dk1"/>
              </a:buClr>
              <a:buSzPts val="2800"/>
              <a:buChar char="–"/>
            </a:pPr>
            <a:r>
              <a:rPr lang="en-US" altLang="en-US" sz="2400">
                <a:sym typeface="+mn-ea"/>
              </a:rPr>
              <a:t>The project supports sustainability goals and promotes a smarter, hunger-free community.</a:t>
            </a:r>
            <a:endParaRPr lang="en-US" altLang="en-US" sz="2400"/>
          </a:p>
          <a:p>
            <a:pPr marL="742950" lvl="1" indent="-285750" algn="l" rtl="0">
              <a:lnSpc>
                <a:spcPct val="110000"/>
              </a:lnSpc>
              <a:spcBef>
                <a:spcPts val="520"/>
              </a:spcBef>
              <a:spcAft>
                <a:spcPts val="0"/>
              </a:spcAft>
              <a:buClr>
                <a:schemeClr val="dk1"/>
              </a:buClr>
              <a:buSzPts val="2800"/>
              <a:buChar char="–"/>
            </a:pPr>
            <a:r>
              <a:rPr lang="en-US" altLang="en-US" sz="2400">
                <a:sym typeface="+mn-ea"/>
              </a:rPr>
              <a:t>Overall, FoodLoop represents a step toward creating a smarter, more compassionate, and waste-free society through technology-driven social innovation.</a:t>
            </a:r>
            <a:endParaRPr lang="en-US" altLang="en-US" sz="2800"/>
          </a:p>
          <a:p>
            <a:pPr marL="742950" lvl="1" indent="-285750" algn="l" rtl="0">
              <a:spcBef>
                <a:spcPts val="520"/>
              </a:spcBef>
              <a:spcAft>
                <a:spcPts val="0"/>
              </a:spcAft>
              <a:buClr>
                <a:schemeClr val="dk1"/>
              </a:buClr>
              <a:buSzPts val="2800"/>
              <a:buChar char="–"/>
            </a:pPr>
            <a:endParaRPr lang="en-US"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04" name="Shape 304"/>
        <p:cNvGrpSpPr/>
        <p:nvPr/>
      </p:nvGrpSpPr>
      <p:grpSpPr>
        <a:xfrm>
          <a:off x="0" y="0"/>
          <a:ext cx="0" cy="0"/>
          <a:chOff x="0" y="0"/>
          <a:chExt cx="0" cy="0"/>
        </a:xfrm>
      </p:grpSpPr>
      <p:sp>
        <p:nvSpPr>
          <p:cNvPr id="305" name="Google Shape;305;p46"/>
          <p:cNvSpPr txBox="1"/>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Future Work</a:t>
            </a:r>
            <a:endParaRPr lang="en-US"/>
          </a:p>
        </p:txBody>
      </p:sp>
      <p:sp>
        <p:nvSpPr>
          <p:cNvPr id="306" name="Google Shape;306;p46"/>
          <p:cNvSpPr txBox="1"/>
          <p:nvPr>
            <p:ph type="body" idx="4294967295"/>
          </p:nvPr>
        </p:nvSpPr>
        <p:spPr>
          <a:xfrm>
            <a:off x="302260" y="976630"/>
            <a:ext cx="8385175" cy="5190490"/>
          </a:xfrm>
          <a:prstGeom prst="rect">
            <a:avLst/>
          </a:prstGeom>
          <a:noFill/>
          <a:ln>
            <a:noFill/>
          </a:ln>
        </p:spPr>
        <p:txBody>
          <a:bodyPr spcFirstLastPara="1" wrap="square" lIns="91425" tIns="45700" rIns="91425" bIns="45700" anchor="t" anchorCtr="0">
            <a:normAutofit lnSpcReduction="10000"/>
          </a:bodyPr>
          <a:lstStyle/>
          <a:p>
            <a:pPr marL="76200" lvl="0" indent="0" algn="just" rtl="0">
              <a:lnSpc>
                <a:spcPct val="110000"/>
              </a:lnSpc>
              <a:spcBef>
                <a:spcPts val="400"/>
              </a:spcBef>
              <a:spcAft>
                <a:spcPts val="0"/>
              </a:spcAft>
              <a:buSzPts val="2000"/>
              <a:buFont typeface="Noto Sans Symbols"/>
              <a:buNone/>
            </a:pPr>
            <a:r>
              <a:rPr lang="en-US" altLang="en-US" sz="2600"/>
              <a:t>-&gt; Expanded Food Categories &amp; Special Requirements</a:t>
            </a:r>
            <a:endParaRPr lang="en-US" altLang="en-US" sz="2600"/>
          </a:p>
          <a:p>
            <a:pPr marL="342900" lvl="0" indent="-266700" algn="just" rtl="0">
              <a:lnSpc>
                <a:spcPct val="110000"/>
              </a:lnSpc>
              <a:spcBef>
                <a:spcPts val="400"/>
              </a:spcBef>
              <a:spcAft>
                <a:spcPts val="0"/>
              </a:spcAft>
              <a:buSzPts val="2000"/>
              <a:buFont typeface="Noto Sans Symbols"/>
              <a:buChar char="•"/>
            </a:pPr>
            <a:r>
              <a:rPr lang="en-US" altLang="en-US" sz="2400"/>
              <a:t>Include dietary preferences (vegan, gluten-free, allergies) in the matching algorithm.</a:t>
            </a:r>
            <a:endParaRPr lang="en-US" altLang="en-US" sz="2400"/>
          </a:p>
          <a:p>
            <a:pPr marL="342900" lvl="0" indent="-266700" algn="just" rtl="0">
              <a:lnSpc>
                <a:spcPct val="110000"/>
              </a:lnSpc>
              <a:spcBef>
                <a:spcPts val="400"/>
              </a:spcBef>
              <a:spcAft>
                <a:spcPts val="0"/>
              </a:spcAft>
              <a:buSzPts val="2000"/>
              <a:buFont typeface="Noto Sans Symbols"/>
              <a:buChar char="•"/>
            </a:pPr>
            <a:r>
              <a:rPr lang="en-US" altLang="en-US" sz="2400"/>
              <a:t>Enable categorization for cooked meals, packaged food, and perishables with automated expiry tracking.</a:t>
            </a:r>
            <a:endParaRPr lang="en-US" altLang="en-US" sz="2800"/>
          </a:p>
          <a:p>
            <a:pPr marL="76200" lvl="0" indent="0" algn="just" rtl="0">
              <a:lnSpc>
                <a:spcPct val="110000"/>
              </a:lnSpc>
              <a:spcBef>
                <a:spcPts val="400"/>
              </a:spcBef>
              <a:spcAft>
                <a:spcPts val="0"/>
              </a:spcAft>
              <a:buSzPts val="2000"/>
              <a:buFont typeface="Noto Sans Symbols"/>
              <a:buNone/>
            </a:pPr>
            <a:r>
              <a:rPr lang="en-US" altLang="en-US" sz="2600"/>
              <a:t>-&gt; Enhanced Analytics &amp; Reporting</a:t>
            </a:r>
            <a:endParaRPr lang="en-US" altLang="en-US" sz="2600"/>
          </a:p>
          <a:p>
            <a:pPr marL="533400" lvl="0" indent="-457200" algn="just" rtl="0">
              <a:lnSpc>
                <a:spcPct val="110000"/>
              </a:lnSpc>
              <a:spcBef>
                <a:spcPts val="400"/>
              </a:spcBef>
              <a:spcAft>
                <a:spcPts val="0"/>
              </a:spcAft>
              <a:buSzPts val="2000"/>
            </a:pPr>
            <a:r>
              <a:rPr lang="en-US" altLang="en-US" sz="2400"/>
              <a:t>Implement predictive analytics for forecasting food demand and wastage hotspots.</a:t>
            </a:r>
            <a:endParaRPr lang="en-US" altLang="en-US" sz="2400"/>
          </a:p>
          <a:p>
            <a:pPr marL="533400" lvl="0" indent="-457200" algn="just" rtl="0">
              <a:lnSpc>
                <a:spcPct val="110000"/>
              </a:lnSpc>
              <a:spcBef>
                <a:spcPts val="400"/>
              </a:spcBef>
              <a:spcAft>
                <a:spcPts val="0"/>
              </a:spcAft>
              <a:buSzPts val="2000"/>
            </a:pPr>
            <a:r>
              <a:rPr lang="en-US" altLang="en-US" sz="2400"/>
              <a:t>Provide detailed dashboards for donors, NGOs, and policymakers to drive data-driven decision-making.</a:t>
            </a:r>
            <a:endParaRPr lang="en-US" altLang="en-US" sz="2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10" name="Shape 310"/>
        <p:cNvGrpSpPr/>
        <p:nvPr/>
      </p:nvGrpSpPr>
      <p:grpSpPr>
        <a:xfrm>
          <a:off x="0" y="0"/>
          <a:ext cx="0" cy="0"/>
          <a:chOff x="0" y="0"/>
          <a:chExt cx="0" cy="0"/>
        </a:xfrm>
      </p:grpSpPr>
      <p:sp>
        <p:nvSpPr>
          <p:cNvPr id="311" name="Google Shape;311;p47"/>
          <p:cNvSpPr txBox="1"/>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r>
              <a:rPr lang="en-US"/>
              <a:t>References</a:t>
            </a:r>
            <a:endParaRPr lang="en-US"/>
          </a:p>
        </p:txBody>
      </p:sp>
      <p:sp>
        <p:nvSpPr>
          <p:cNvPr id="312" name="Google Shape;312;p47"/>
          <p:cNvSpPr txBox="1"/>
          <p:nvPr>
            <p:ph type="body" idx="4294967295"/>
          </p:nvPr>
        </p:nvSpPr>
        <p:spPr>
          <a:xfrm>
            <a:off x="307340" y="990600"/>
            <a:ext cx="8470900" cy="5582285"/>
          </a:xfrm>
          <a:prstGeom prst="rect">
            <a:avLst/>
          </a:prstGeom>
          <a:noFill/>
          <a:ln>
            <a:noFill/>
          </a:ln>
        </p:spPr>
        <p:txBody>
          <a:bodyPr spcFirstLastPara="1" wrap="square" lIns="91425" tIns="45700" rIns="91425" bIns="45700" anchor="t" anchorCtr="0">
            <a:noAutofit/>
          </a:bodyPr>
          <a:lstStyle/>
          <a:p>
            <a:pPr marL="342900" lvl="0" indent="-312420" algn="l" rtl="0">
              <a:lnSpc>
                <a:spcPct val="110000"/>
              </a:lnSpc>
              <a:spcBef>
                <a:spcPts val="0"/>
              </a:spcBef>
              <a:spcAft>
                <a:spcPts val="0"/>
              </a:spcAft>
              <a:buClr>
                <a:schemeClr val="dk1"/>
              </a:buClr>
              <a:buSzPct val="100000"/>
              <a:buChar char="•"/>
            </a:pPr>
            <a:r>
              <a:rPr lang="en-US" altLang="en-US" sz="2200">
                <a:solidFill>
                  <a:srgbClr val="0070C0"/>
                </a:solidFill>
                <a:sym typeface="+mn-ea"/>
                <a:hlinkClick r:id="rId1" action="ppaction://hlinkfile"/>
              </a:rPr>
              <a:t>https://pubs.aip.org/aip/acp/article-abstract/3325/1/040020/3366028/Ending-hunger-saving-food-Innovations-for-surplus</a:t>
            </a:r>
            <a:endParaRPr lang="en-US" altLang="en-US" sz="2200">
              <a:solidFill>
                <a:srgbClr val="0070C0"/>
              </a:solidFill>
            </a:endParaRPr>
          </a:p>
          <a:p>
            <a:pPr marL="342900" lvl="0" indent="-312420" algn="l" rtl="0">
              <a:spcBef>
                <a:spcPts val="640"/>
              </a:spcBef>
              <a:spcAft>
                <a:spcPts val="0"/>
              </a:spcAft>
              <a:buClr>
                <a:schemeClr val="dk1"/>
              </a:buClr>
              <a:buSzPct val="100000"/>
              <a:buChar char="•"/>
            </a:pPr>
            <a:r>
              <a:rPr lang="en-US" sz="2200">
                <a:sym typeface="+mn-ea"/>
              </a:rPr>
              <a:t>K. F. Victor and I. Z. Michael, “Intelligent data analysis and machine learning: Are they really equivalent Concepts?,” in </a:t>
            </a:r>
            <a:r>
              <a:rPr lang="en-US" sz="2200" i="1">
                <a:sym typeface="+mn-ea"/>
              </a:rPr>
              <a:t>2017 Second Russia and Pacific Conference on Computer Technology and Applications (RPC)</a:t>
            </a:r>
            <a:r>
              <a:rPr lang="en-US" sz="2200">
                <a:sym typeface="+mn-ea"/>
              </a:rPr>
              <a:t>, 2017, pp. 59–63.</a:t>
            </a:r>
            <a:endParaRPr lang="en-US" sz="2200"/>
          </a:p>
          <a:p>
            <a:pPr marL="342900" lvl="0" indent="-312420" algn="l" rtl="0">
              <a:spcBef>
                <a:spcPts val="640"/>
              </a:spcBef>
              <a:spcAft>
                <a:spcPts val="0"/>
              </a:spcAft>
              <a:buClr>
                <a:schemeClr val="dk1"/>
              </a:buClr>
              <a:buSzPct val="100000"/>
              <a:buChar char="•"/>
            </a:pPr>
            <a:r>
              <a:rPr lang="en-US" altLang="en-US" sz="2200">
                <a:sym typeface="+mn-ea"/>
              </a:rPr>
              <a:t>Kumar, R., Singh, A., &amp; Patel, M. (2025). Enhancing Food Sustainability Through Technological Innovation: A Paradigmatic Approach to Minimizing Household Food Wastage via an AI-Enabled Application. Journal of Environmental Informatics &amp; Smart Technology, 8(2), 2025.</a:t>
            </a:r>
            <a:endParaRPr lang="en-US" sz="2200"/>
          </a:p>
          <a:p>
            <a:pPr marL="342900" lvl="0" indent="-312420" algn="l" rtl="0">
              <a:spcBef>
                <a:spcPts val="640"/>
              </a:spcBef>
              <a:spcAft>
                <a:spcPts val="0"/>
              </a:spcAft>
              <a:buSzPct val="100000"/>
              <a:buChar char="•"/>
            </a:pPr>
            <a:r>
              <a:rPr lang="en-US" altLang="en-US" sz="2200">
                <a:sym typeface="+mn-ea"/>
              </a:rPr>
              <a:t>Saleth, E., Balaji, S., Yashema, N., &amp; Akshaya, D. (2025). Zero Impact AI-Driven Food Redistribution System for Sustainable Waste Reduction. International Journal for Research Trends &amp; Innovation, 10(4), April 2025.</a:t>
            </a:r>
            <a:endParaRPr lang="en-US" altLang="en-US" sz="2200" b="1" u="sng">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22" name="Shape 322"/>
        <p:cNvGrpSpPr/>
        <p:nvPr/>
      </p:nvGrpSpPr>
      <p:grpSpPr>
        <a:xfrm>
          <a:off x="0" y="0"/>
          <a:ext cx="0" cy="0"/>
          <a:chOff x="0" y="0"/>
          <a:chExt cx="0" cy="0"/>
        </a:xfrm>
      </p:grpSpPr>
      <p:sp>
        <p:nvSpPr>
          <p:cNvPr id="323" name="Google Shape;323;p49"/>
          <p:cNvSpPr txBox="1"/>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panose="020F0502020204030204"/>
              <a:buNone/>
            </a:pPr>
          </a:p>
        </p:txBody>
      </p:sp>
      <p:pic>
        <p:nvPicPr>
          <p:cNvPr id="324" name="Google Shape;324;p49"/>
          <p:cNvPicPr preferRelativeResize="0"/>
          <p:nvPr/>
        </p:nvPicPr>
        <p:blipFill rotWithShape="1">
          <a:blip r:embed="rId1"/>
          <a:srcRect/>
          <a:stretch>
            <a:fillRect/>
          </a:stretch>
        </p:blipFill>
        <p:spPr>
          <a:xfrm>
            <a:off x="0" y="0"/>
            <a:ext cx="9144001" cy="6858000"/>
          </a:xfrm>
          <a:prstGeom prst="rect">
            <a:avLst/>
          </a:prstGeom>
          <a:noFill/>
          <a:ln>
            <a:noFill/>
          </a:ln>
        </p:spPr>
      </p:pic>
    </p:spTree>
  </p:cSld>
  <p:clrMapOvr>
    <a:masterClrMapping/>
  </p:clrMapOvr>
</p:sld>
</file>

<file path=ppt/tags/tag1.xml><?xml version="1.0" encoding="utf-8"?>
<p:tagLst xmlns:p="http://schemas.openxmlformats.org/presentationml/2006/main">
  <p:tag name="TABLE_ENDDRAG_ORIGIN_RECT" val="647*393"/>
  <p:tag name="TABLE_ENDDRAG_RECT" val="36*128*647*393"/>
</p:tagLst>
</file>

<file path=ppt/tags/tag2.xml><?xml version="1.0" encoding="utf-8"?>
<p:tagLst xmlns:p="http://schemas.openxmlformats.org/presentationml/2006/main">
  <p:tag name="TABLE_ENDDRAG_ORIGIN_RECT" val="647*281"/>
  <p:tag name="TABLE_ENDDRAG_RECT" val="36*121*647*281"/>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12521</Words>
  <Application>WPS Presentation</Application>
  <PresentationFormat/>
  <Paragraphs>390</Paragraphs>
  <Slides>30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30</vt:i4>
      </vt:variant>
    </vt:vector>
  </HeadingPairs>
  <TitlesOfParts>
    <vt:vector size="42" baseType="lpstr">
      <vt:lpstr>Arial</vt:lpstr>
      <vt:lpstr>SimSun</vt:lpstr>
      <vt:lpstr>Wingdings</vt:lpstr>
      <vt:lpstr>Arial</vt:lpstr>
      <vt:lpstr>Calibri</vt:lpstr>
      <vt:lpstr>Times New Roman</vt:lpstr>
      <vt:lpstr>Microsoft YaHei</vt:lpstr>
      <vt:lpstr>Arial Unicode MS</vt:lpstr>
      <vt:lpstr>Noto Sans Symbols</vt:lpstr>
      <vt:lpstr>JetBrains Mono</vt:lpstr>
      <vt:lpstr>Times New Roman</vt:lpstr>
      <vt:lpstr>Office Theme</vt:lpstr>
      <vt:lpstr>PowerPoint 演示文稿</vt:lpstr>
      <vt:lpstr>Agenda</vt:lpstr>
      <vt:lpstr>Introduction</vt:lpstr>
      <vt:lpstr>Statement of the Problem</vt:lpstr>
      <vt:lpstr>Purpose of the project</vt:lpstr>
      <vt:lpstr>Proposed Methodology</vt:lpstr>
      <vt:lpstr>SOFTWARE REQUIREMENT SPECIFICATION (SRS)</vt:lpstr>
      <vt:lpstr>SOFTWARE REQUIREMENT SPECIFICATION (SRS)</vt:lpstr>
      <vt:lpstr>SOFTWARE REQUIREMENT SPECIFICATION (SRS)</vt:lpstr>
      <vt:lpstr>SYSTEM ARCHITECTURE </vt:lpstr>
      <vt:lpstr>Use Case Diagram</vt:lpstr>
      <vt:lpstr>ER- Diagram</vt:lpstr>
      <vt:lpstr>Sequence Diagram </vt:lpstr>
      <vt:lpstr>Class Diagram</vt:lpstr>
      <vt:lpstr>Algorithms used</vt:lpstr>
      <vt:lpstr>Algorithms used</vt:lpstr>
      <vt:lpstr>Hardware and software selection </vt:lpstr>
      <vt:lpstr>Implementation</vt:lpstr>
      <vt:lpstr>Important Code Structure</vt:lpstr>
      <vt:lpstr>Important Code Structure</vt:lpstr>
      <vt:lpstr>Output</vt:lpstr>
      <vt:lpstr>Output</vt:lpstr>
      <vt:lpstr>Output</vt:lpstr>
      <vt:lpstr>Test Cases</vt:lpstr>
      <vt:lpstr>Test Cases</vt:lpstr>
      <vt:lpstr>Results</vt:lpstr>
      <vt:lpstr>Conclusion</vt:lpstr>
      <vt:lpstr>Future Work</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Pradeep Raj</cp:lastModifiedBy>
  <cp:revision>46</cp:revision>
  <dcterms:created xsi:type="dcterms:W3CDTF">2025-11-28T20:02:00Z</dcterms:created>
  <dcterms:modified xsi:type="dcterms:W3CDTF">2025-12-01T05:15:45Z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D4FDAA73F6374D6DA10CBC10BF8C5BE0_12</vt:lpwstr>
  </property>
  <property fmtid="{D5CDD505-2E9C-101B-9397-08002B2CF9AE}" pid="3" name="KSOProductBuildVer">
    <vt:lpwstr>1033-12.2.0.23155</vt:lpwstr>
  </property>
</Properties>
</file>